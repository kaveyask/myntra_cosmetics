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73" r:id="rId10"/>
    <p:sldId id="27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114"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5252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scrapes Myntra’s beauty catalogue with Python, cleans it with Pandas and turns it into a four-page Power BI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four stages: scrape, clean, model and explore.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turning scattered listing data into answers about pricing, discounts, brands and ratings.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scraped from the web with Playwright in Python, cleaned with Pandas in a Jupyter notebook, then modeled and visualised in Power BI.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18,908 unique products. Average price is ₹473, median ₹349, average MRP ₹720.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discount_pct field was corrupted in the scrape, so all discount figures are recomputed from MRP and price. Review counts are repeated across shades of one product, so they are used as a relative signal only. Most categories were capped near 500 listings, so categories are compared on averages, not counts.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visual types and interactions found in the Power BI file: KPI cards, bar, column, scatter and 100% stacked charts, a matrix, a detail table, list, advanced and range slicers, a page navigator, and calculated measures and bins such as price bands, discount level and rating level.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BI report has four pages. The next slides walk through what each page reveals.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are drawn from the findings; the enhancements are proposed next steps rather than completed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 welcome.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F0A1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4341"/>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FF4F81"/>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26121"/>
            <a:ext cx="10566400" cy="4219079"/>
          </a:xfrm>
          <a:prstGeom prst="rect">
            <a:avLst/>
          </a:prstGeom>
          <a:noFill/>
          <a:ln/>
        </p:spPr>
        <p:txBody>
          <a:bodyPr wrap="square" lIns="0" tIns="0" rIns="0" bIns="0" rtlCol="0" anchor="t"/>
          <a:lstStyle>
            <a:lvl1pPr marL="0" indent="0" algn="l">
              <a:lnSpc>
                <a:spcPct val="140000"/>
              </a:lnSpc>
              <a:buNone/>
              <a:defRPr lang="en-US" sz="1600" dirty="0">
                <a:solidFill>
                  <a:srgbClr val="FF4F81"/>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F0A1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4341"/>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FF4F81"/>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26121"/>
            <a:ext cx="10566400" cy="4219079"/>
          </a:xfrm>
          <a:prstGeom prst="rect">
            <a:avLst/>
          </a:prstGeom>
          <a:noFill/>
          <a:ln/>
        </p:spPr>
        <p:txBody>
          <a:bodyPr wrap="square" lIns="0" tIns="0" rIns="0" bIns="0" rtlCol="0" anchor="t"/>
          <a:lstStyle>
            <a:lvl1pPr marL="0" indent="0" algn="l">
              <a:lnSpc>
                <a:spcPct val="140000"/>
              </a:lnSpc>
              <a:buNone/>
              <a:defRPr lang="en-US" sz="1600" dirty="0">
                <a:solidFill>
                  <a:srgbClr val="FF4F81"/>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0A16"/>
        </a:solidFill>
        <a:effectLst/>
      </p:bgPr>
    </p:bg>
    <p:spTree>
      <p:nvGrpSpPr>
        <p:cNvPr id="1" name=""/>
        <p:cNvGrpSpPr/>
        <p:nvPr/>
      </p:nvGrpSpPr>
      <p:grpSpPr>
        <a:xfrm>
          <a:off x="0" y="0"/>
          <a:ext cx="0" cy="0"/>
          <a:chOff x="0" y="0"/>
          <a:chExt cx="0" cy="0"/>
        </a:xfrm>
      </p:grpSpPr>
      <p:sp>
        <p:nvSpPr>
          <p:cNvPr id="2" name="Shape 0"/>
          <p:cNvSpPr/>
          <p:nvPr/>
        </p:nvSpPr>
        <p:spPr>
          <a:xfrm>
            <a:off x="0" y="0"/>
            <a:ext cx="1397000" cy="1397000"/>
          </a:xfrm>
          <a:prstGeom prst="roundRect">
            <a:avLst>
              <a:gd name="adj" fmla="val 50000"/>
            </a:avLst>
          </a:prstGeom>
          <a:solidFill>
            <a:srgbClr val="3A1428"/>
          </a:solidFill>
          <a:ln/>
        </p:spPr>
        <p:txBody>
          <a:bodyPr/>
          <a:lstStyle/>
          <a:p>
            <a:endParaRPr lang="en-IN"/>
          </a:p>
        </p:txBody>
      </p:sp>
      <p:sp>
        <p:nvSpPr>
          <p:cNvPr id="3" name="Shape 1"/>
          <p:cNvSpPr/>
          <p:nvPr/>
        </p:nvSpPr>
        <p:spPr>
          <a:xfrm>
            <a:off x="8191500" y="3429000"/>
            <a:ext cx="3175000" cy="3175000"/>
          </a:xfrm>
          <a:prstGeom prst="roundRect">
            <a:avLst>
              <a:gd name="adj" fmla="val 50000"/>
            </a:avLst>
          </a:prstGeom>
          <a:solidFill>
            <a:srgbClr val="4A1A33"/>
          </a:solidFill>
          <a:ln/>
        </p:spPr>
        <p:txBody>
          <a:bodyPr/>
          <a:lstStyle/>
          <a:p>
            <a:endParaRPr lang="en-IN"/>
          </a:p>
        </p:txBody>
      </p:sp>
      <p:sp>
        <p:nvSpPr>
          <p:cNvPr id="4" name="Shape 2"/>
          <p:cNvSpPr/>
          <p:nvPr/>
        </p:nvSpPr>
        <p:spPr>
          <a:xfrm>
            <a:off x="9525000" y="4826000"/>
            <a:ext cx="1905000" cy="1905000"/>
          </a:xfrm>
          <a:prstGeom prst="roundRect">
            <a:avLst>
              <a:gd name="adj" fmla="val 50000"/>
            </a:avLst>
          </a:prstGeom>
          <a:solidFill>
            <a:srgbClr val="6A2144"/>
          </a:solidFill>
          <a:ln/>
        </p:spPr>
        <p:txBody>
          <a:bodyPr/>
          <a:lstStyle/>
          <a:p>
            <a:endParaRPr lang="en-IN"/>
          </a:p>
        </p:txBody>
      </p:sp>
      <p:sp>
        <p:nvSpPr>
          <p:cNvPr id="5" name="Text 3"/>
          <p:cNvSpPr/>
          <p:nvPr/>
        </p:nvSpPr>
        <p:spPr>
          <a:xfrm>
            <a:off x="812800" y="18567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b="1" kern="0" spc="250" dirty="0">
                <a:solidFill>
                  <a:srgbClr val="FFA6C1"/>
                </a:solidFill>
                <a:latin typeface="Arial" pitchFamily="34" charset="0"/>
                <a:ea typeface="Arial" pitchFamily="34" charset="-122"/>
                <a:cs typeface="Arial" pitchFamily="34" charset="-120"/>
              </a:rPr>
              <a:t>POWER BI ANALYTICS PROJECT</a:t>
            </a:r>
            <a:endParaRPr lang="en-US" sz="1200" dirty="0"/>
          </a:p>
        </p:txBody>
      </p:sp>
      <p:sp>
        <p:nvSpPr>
          <p:cNvPr id="6" name="Text 4"/>
          <p:cNvSpPr>
            <a:spLocks noGrp="1"/>
          </p:cNvSpPr>
          <p:nvPr>
            <p:ph type="title"/>
          </p:nvPr>
        </p:nvSpPr>
        <p:spPr>
          <a:xfrm>
            <a:off x="812800" y="2273300"/>
            <a:ext cx="7194550" cy="203696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F4F81"/>
                </a:solidFill>
                <a:latin typeface="Arial" pitchFamily="34" charset="0"/>
                <a:ea typeface="Arial" pitchFamily="34" charset="-122"/>
                <a:cs typeface="Arial" pitchFamily="34" charset="-120"/>
              </a:rPr>
              <a:t>Myntra Beauty &amp; Cosmetics</a:t>
            </a:r>
            <a:endParaRPr lang="en-US" sz="4800" dirty="0"/>
          </a:p>
          <a:p>
            <a:pPr marL="0" indent="0" algn="l">
              <a:lnSpc>
                <a:spcPts val="5280"/>
              </a:lnSpc>
              <a:buNone/>
            </a:pPr>
            <a:r>
              <a:rPr lang="en-US" sz="4800" b="1" i="0" dirty="0">
                <a:solidFill>
                  <a:srgbClr val="FF4F81"/>
                </a:solidFill>
                <a:latin typeface="Arial" pitchFamily="34" charset="0"/>
                <a:ea typeface="Arial" pitchFamily="34" charset="-122"/>
                <a:cs typeface="Arial" pitchFamily="34" charset="-120"/>
              </a:rPr>
              <a:t>Analytics Dashboard</a:t>
            </a:r>
            <a:endParaRPr lang="en-US" sz="4800" dirty="0"/>
          </a:p>
        </p:txBody>
      </p:sp>
      <p:sp>
        <p:nvSpPr>
          <p:cNvPr id="7" name="Text 5"/>
          <p:cNvSpPr/>
          <p:nvPr/>
        </p:nvSpPr>
        <p:spPr>
          <a:xfrm>
            <a:off x="812800" y="4488061"/>
            <a:ext cx="6540500" cy="309860"/>
          </a:xfrm>
          <a:prstGeom prst="rect">
            <a:avLst/>
          </a:prstGeom>
          <a:noFill/>
          <a:ln/>
        </p:spPr>
        <p:txBody>
          <a:bodyPr wrap="square" lIns="0" tIns="0" rIns="0" bIns="0" rtlCol="0" anchor="t">
            <a:normAutofit/>
          </a:bodyPr>
          <a:lstStyle/>
          <a:p>
            <a:pPr marL="0" indent="0" algn="l">
              <a:lnSpc>
                <a:spcPts val="2240"/>
              </a:lnSpc>
              <a:buNone/>
            </a:pPr>
            <a:r>
              <a:rPr lang="en-US" sz="1600" i="1" dirty="0">
                <a:solidFill>
                  <a:srgbClr val="FFF1F5"/>
                </a:solidFill>
                <a:latin typeface="Arial" pitchFamily="34" charset="0"/>
                <a:ea typeface="Arial" pitchFamily="34" charset="-122"/>
                <a:cs typeface="Arial" pitchFamily="34" charset="-120"/>
              </a:rPr>
              <a:t>Pricing • Discounts • Brands • Ratings</a:t>
            </a:r>
            <a:endParaRPr lang="en-US" sz="1600" dirty="0"/>
          </a:p>
        </p:txBody>
      </p:sp>
      <p:sp>
        <p:nvSpPr>
          <p:cNvPr id="8" name="Shape 6"/>
          <p:cNvSpPr/>
          <p:nvPr/>
        </p:nvSpPr>
        <p:spPr>
          <a:xfrm>
            <a:off x="812800" y="4975721"/>
            <a:ext cx="1143000" cy="25400"/>
          </a:xfrm>
          <a:prstGeom prst="rect">
            <a:avLst/>
          </a:prstGeom>
          <a:solidFill>
            <a:srgbClr val="FFA6C1"/>
          </a:solidFill>
          <a:ln/>
        </p:spPr>
        <p:txBody>
          <a:bodyPr/>
          <a:lstStyle/>
          <a:p>
            <a:endParaRPr lang="en-IN"/>
          </a:p>
        </p:txBody>
      </p:sp>
      <p:sp>
        <p:nvSpPr>
          <p:cNvPr id="9" name="Shape 7"/>
          <p:cNvSpPr/>
          <p:nvPr/>
        </p:nvSpPr>
        <p:spPr>
          <a:xfrm>
            <a:off x="7880350" y="819150"/>
            <a:ext cx="3289300" cy="1236861"/>
          </a:xfrm>
          <a:prstGeom prst="roundRect">
            <a:avLst>
              <a:gd name="adj" fmla="val 7701"/>
            </a:avLst>
          </a:prstGeom>
          <a:solidFill>
            <a:srgbClr val="2E1423"/>
          </a:solidFill>
          <a:ln w="12700">
            <a:solidFill>
              <a:srgbClr val="4A2338"/>
            </a:solidFill>
            <a:prstDash val="solid"/>
          </a:ln>
        </p:spPr>
        <p:txBody>
          <a:bodyPr/>
          <a:lstStyle/>
          <a:p>
            <a:endParaRPr lang="en-IN"/>
          </a:p>
        </p:txBody>
      </p:sp>
      <p:sp>
        <p:nvSpPr>
          <p:cNvPr id="10" name="Text 8"/>
          <p:cNvSpPr/>
          <p:nvPr/>
        </p:nvSpPr>
        <p:spPr>
          <a:xfrm>
            <a:off x="8089900" y="1003300"/>
            <a:ext cx="2956306"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F4F81"/>
                </a:solidFill>
                <a:latin typeface="Arial" pitchFamily="34" charset="0"/>
                <a:ea typeface="Arial" pitchFamily="34" charset="-122"/>
                <a:cs typeface="Arial" pitchFamily="34" charset="-120"/>
              </a:rPr>
              <a:t>18,908+</a:t>
            </a:r>
            <a:endParaRPr lang="en-US" sz="2800" dirty="0"/>
          </a:p>
        </p:txBody>
      </p:sp>
      <p:sp>
        <p:nvSpPr>
          <p:cNvPr id="11" name="Text 9"/>
          <p:cNvSpPr/>
          <p:nvPr/>
        </p:nvSpPr>
        <p:spPr>
          <a:xfrm>
            <a:off x="8089900" y="1445220"/>
            <a:ext cx="295630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Products analyzed across 1,701 brands and 41 categories</a:t>
            </a:r>
            <a:endParaRPr lang="en-US" sz="1200" dirty="0"/>
          </a:p>
        </p:txBody>
      </p:sp>
      <p:sp>
        <p:nvSpPr>
          <p:cNvPr id="12" name="Text 10"/>
          <p:cNvSpPr/>
          <p:nvPr/>
        </p:nvSpPr>
        <p:spPr>
          <a:xfrm>
            <a:off x="812800" y="5080000"/>
            <a:ext cx="45783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Presented by</a:t>
            </a:r>
            <a:endParaRPr lang="en-US" sz="1200" dirty="0"/>
          </a:p>
        </p:txBody>
      </p:sp>
      <p:sp>
        <p:nvSpPr>
          <p:cNvPr id="13" name="Text 11"/>
          <p:cNvSpPr/>
          <p:nvPr/>
        </p:nvSpPr>
        <p:spPr>
          <a:xfrm>
            <a:off x="812800" y="5344120"/>
            <a:ext cx="457835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FF1F5"/>
                </a:solidFill>
                <a:latin typeface="Arial" pitchFamily="34" charset="0"/>
                <a:ea typeface="Arial" pitchFamily="34" charset="-122"/>
                <a:cs typeface="Arial" pitchFamily="34" charset="-120"/>
              </a:rPr>
              <a:t>KAVEYA 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0A16"/>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50" dirty="0">
                <a:solidFill>
                  <a:srgbClr val="FFA6C1"/>
                </a:solidFill>
                <a:latin typeface="Arial" pitchFamily="34" charset="0"/>
                <a:ea typeface="Arial" pitchFamily="34" charset="-122"/>
                <a:cs typeface="Arial" pitchFamily="34" charset="-120"/>
              </a:rPr>
              <a:t>INTRODUCTION</a:t>
            </a:r>
            <a:endParaRPr lang="en-US" sz="1200" dirty="0"/>
          </a:p>
        </p:txBody>
      </p:sp>
      <p:sp>
        <p:nvSpPr>
          <p:cNvPr id="3" name="Text 1"/>
          <p:cNvSpPr>
            <a:spLocks noGrp="1"/>
          </p:cNvSpPr>
          <p:nvPr>
            <p:ph type="title"/>
          </p:nvPr>
        </p:nvSpPr>
        <p:spPr>
          <a:xfrm>
            <a:off x="812800" y="1000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4F81"/>
                </a:solidFill>
                <a:latin typeface="Arial" pitchFamily="34" charset="0"/>
                <a:ea typeface="Arial" pitchFamily="34" charset="-122"/>
                <a:cs typeface="Arial" pitchFamily="34" charset="-120"/>
              </a:rPr>
              <a:t>Project Overview</a:t>
            </a:r>
            <a:endParaRPr lang="en-US" sz="3200" dirty="0"/>
          </a:p>
        </p:txBody>
      </p:sp>
      <p:sp>
        <p:nvSpPr>
          <p:cNvPr id="4" name="Shape 2"/>
          <p:cNvSpPr/>
          <p:nvPr/>
        </p:nvSpPr>
        <p:spPr>
          <a:xfrm>
            <a:off x="819150" y="1631851"/>
            <a:ext cx="4305300" cy="3412430"/>
          </a:xfrm>
          <a:prstGeom prst="roundRect">
            <a:avLst>
              <a:gd name="adj" fmla="val 2791"/>
            </a:avLst>
          </a:prstGeom>
          <a:solidFill>
            <a:srgbClr val="2E1423"/>
          </a:solidFill>
          <a:ln w="12700">
            <a:solidFill>
              <a:srgbClr val="4A2338"/>
            </a:solidFill>
            <a:prstDash val="solid"/>
          </a:ln>
        </p:spPr>
        <p:txBody>
          <a:bodyPr/>
          <a:lstStyle/>
          <a:p>
            <a:endParaRPr lang="en-IN"/>
          </a:p>
        </p:txBody>
      </p:sp>
      <p:sp>
        <p:nvSpPr>
          <p:cNvPr id="5" name="Text 3"/>
          <p:cNvSpPr/>
          <p:nvPr/>
        </p:nvSpPr>
        <p:spPr>
          <a:xfrm>
            <a:off x="1054100" y="1866801"/>
            <a:ext cx="395046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A6C1"/>
                </a:solidFill>
                <a:latin typeface="Arial" pitchFamily="34" charset="0"/>
                <a:ea typeface="Arial" pitchFamily="34" charset="-122"/>
                <a:cs typeface="Arial" pitchFamily="34" charset="-120"/>
              </a:rPr>
              <a:t>Project Objective</a:t>
            </a:r>
            <a:endParaRPr lang="en-US" sz="1600" dirty="0"/>
          </a:p>
        </p:txBody>
      </p:sp>
      <p:sp>
        <p:nvSpPr>
          <p:cNvPr id="6" name="Text 4"/>
          <p:cNvSpPr/>
          <p:nvPr/>
        </p:nvSpPr>
        <p:spPr>
          <a:xfrm>
            <a:off x="1054100" y="2288381"/>
            <a:ext cx="3950462" cy="16256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FF1F5"/>
                </a:solidFill>
                <a:latin typeface="Arial" pitchFamily="34" charset="0"/>
                <a:ea typeface="Arial" pitchFamily="34" charset="-122"/>
                <a:cs typeface="Arial" pitchFamily="34" charset="-120"/>
              </a:rPr>
              <a:t>The objective of this project is to analyze how beauty and personal-care products are priced, discounted, branded and rated on Myntra, using 18,908 scraped listings across 41 categories, and to turn the raw data into meaningful business insights with Power BI.</a:t>
            </a:r>
            <a:endParaRPr lang="en-US" sz="1400" dirty="0"/>
          </a:p>
        </p:txBody>
      </p:sp>
      <p:sp>
        <p:nvSpPr>
          <p:cNvPr id="7" name="Text 5"/>
          <p:cNvSpPr/>
          <p:nvPr/>
        </p:nvSpPr>
        <p:spPr>
          <a:xfrm>
            <a:off x="1054100" y="4066381"/>
            <a:ext cx="3950462" cy="768350"/>
          </a:xfrm>
          <a:prstGeom prst="rect">
            <a:avLst/>
          </a:prstGeom>
          <a:noFill/>
          <a:ln/>
        </p:spPr>
        <p:txBody>
          <a:bodyPr wrap="square" lIns="0" tIns="0" rIns="0" bIns="0" rtlCol="0" anchor="t">
            <a:normAutofit/>
          </a:bodyPr>
          <a:lstStyle/>
          <a:p>
            <a:pPr marL="0" indent="0" algn="l">
              <a:lnSpc>
                <a:spcPts val="1950"/>
              </a:lnSpc>
              <a:buNone/>
            </a:pPr>
            <a:r>
              <a:rPr lang="en-US" sz="1300" i="1" dirty="0">
                <a:solidFill>
                  <a:srgbClr val="D9A9BA"/>
                </a:solidFill>
                <a:latin typeface="Arial" pitchFamily="34" charset="0"/>
                <a:ea typeface="Arial" pitchFamily="34" charset="-122"/>
                <a:cs typeface="Arial" pitchFamily="34" charset="-120"/>
              </a:rPr>
              <a:t>Listings were scraped with Playwright, cleaned with Pandas and modeled into a single decision-ready dashboard.</a:t>
            </a:r>
            <a:endParaRPr lang="en-US" sz="1300" dirty="0"/>
          </a:p>
        </p:txBody>
      </p:sp>
      <p:sp>
        <p:nvSpPr>
          <p:cNvPr id="8" name="Text 6"/>
          <p:cNvSpPr/>
          <p:nvPr/>
        </p:nvSpPr>
        <p:spPr>
          <a:xfrm>
            <a:off x="5334000" y="1625501"/>
            <a:ext cx="622655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F1F5"/>
                </a:solidFill>
                <a:latin typeface="Arial" pitchFamily="34" charset="0"/>
                <a:ea typeface="Arial" pitchFamily="34" charset="-122"/>
                <a:cs typeface="Arial" pitchFamily="34" charset="-120"/>
              </a:rPr>
              <a:t>The Dashboard Helps:</a:t>
            </a:r>
            <a:endParaRPr lang="en-US" sz="1500" dirty="0"/>
          </a:p>
        </p:txBody>
      </p:sp>
      <p:sp>
        <p:nvSpPr>
          <p:cNvPr id="9" name="Shape 7"/>
          <p:cNvSpPr/>
          <p:nvPr/>
        </p:nvSpPr>
        <p:spPr>
          <a:xfrm>
            <a:off x="5340350" y="2025551"/>
            <a:ext cx="2946400" cy="1046361"/>
          </a:xfrm>
          <a:prstGeom prst="roundRect">
            <a:avLst>
              <a:gd name="adj" fmla="val 7889"/>
            </a:avLst>
          </a:prstGeom>
          <a:solidFill>
            <a:srgbClr val="2E1423"/>
          </a:solidFill>
          <a:ln w="12700">
            <a:solidFill>
              <a:srgbClr val="4A2338"/>
            </a:solidFill>
            <a:prstDash val="solid"/>
          </a:ln>
        </p:spPr>
        <p:txBody>
          <a:bodyPr/>
          <a:lstStyle/>
          <a:p>
            <a:endParaRPr lang="en-IN"/>
          </a:p>
        </p:txBody>
      </p:sp>
      <p:sp>
        <p:nvSpPr>
          <p:cNvPr id="10" name="Shape 8"/>
          <p:cNvSpPr/>
          <p:nvPr/>
        </p:nvSpPr>
        <p:spPr>
          <a:xfrm>
            <a:off x="5511800" y="2171601"/>
            <a:ext cx="279400" cy="279400"/>
          </a:xfrm>
          <a:prstGeom prst="roundRect">
            <a:avLst>
              <a:gd name="adj" fmla="val 50000"/>
            </a:avLst>
          </a:prstGeom>
          <a:solidFill>
            <a:srgbClr val="FFA6C1"/>
          </a:solidFill>
          <a:ln/>
        </p:spPr>
        <p:txBody>
          <a:bodyPr/>
          <a:lstStyle/>
          <a:p>
            <a:endParaRPr lang="en-IN"/>
          </a:p>
        </p:txBody>
      </p:sp>
      <p:pic>
        <p:nvPicPr>
          <p:cNvPr id="11" name="Image 0" descr="Check"/>
          <p:cNvPicPr>
            <a:picLocks noChangeAspect="1"/>
          </p:cNvPicPr>
          <p:nvPr/>
        </p:nvPicPr>
        <p:blipFill>
          <a:blip r:embed="rId3"/>
          <a:srcRect/>
          <a:stretch/>
        </p:blipFill>
        <p:spPr>
          <a:xfrm>
            <a:off x="5562600" y="2222401"/>
            <a:ext cx="177800" cy="177800"/>
          </a:xfrm>
          <a:prstGeom prst="rect">
            <a:avLst/>
          </a:prstGeom>
        </p:spPr>
      </p:pic>
      <p:sp>
        <p:nvSpPr>
          <p:cNvPr id="12" name="Text 9"/>
          <p:cNvSpPr/>
          <p:nvPr/>
        </p:nvSpPr>
        <p:spPr>
          <a:xfrm>
            <a:off x="5892800" y="2195711"/>
            <a:ext cx="124444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Track Pricing</a:t>
            </a:r>
            <a:endParaRPr lang="en-US" sz="1300" dirty="0"/>
          </a:p>
        </p:txBody>
      </p:sp>
      <p:sp>
        <p:nvSpPr>
          <p:cNvPr id="13" name="Text 10"/>
          <p:cNvSpPr/>
          <p:nvPr/>
        </p:nvSpPr>
        <p:spPr>
          <a:xfrm>
            <a:off x="5511800" y="2514501"/>
            <a:ext cx="276860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9A9BA"/>
                </a:solidFill>
                <a:latin typeface="Arial" pitchFamily="34" charset="0"/>
                <a:ea typeface="Arial" pitchFamily="34" charset="-122"/>
                <a:cs typeface="Arial" pitchFamily="34" charset="-120"/>
              </a:rPr>
              <a:t>Price bands and average selling price</a:t>
            </a:r>
            <a:endParaRPr lang="en-US" sz="1200" dirty="0"/>
          </a:p>
        </p:txBody>
      </p:sp>
      <p:sp>
        <p:nvSpPr>
          <p:cNvPr id="14" name="Shape 11"/>
          <p:cNvSpPr/>
          <p:nvPr/>
        </p:nvSpPr>
        <p:spPr>
          <a:xfrm>
            <a:off x="8426450" y="2025551"/>
            <a:ext cx="2946400" cy="1046361"/>
          </a:xfrm>
          <a:prstGeom prst="roundRect">
            <a:avLst>
              <a:gd name="adj" fmla="val 7889"/>
            </a:avLst>
          </a:prstGeom>
          <a:solidFill>
            <a:srgbClr val="2E1423"/>
          </a:solidFill>
          <a:ln w="12700">
            <a:solidFill>
              <a:srgbClr val="4A2338"/>
            </a:solidFill>
            <a:prstDash val="solid"/>
          </a:ln>
        </p:spPr>
        <p:txBody>
          <a:bodyPr/>
          <a:lstStyle/>
          <a:p>
            <a:endParaRPr lang="en-IN"/>
          </a:p>
        </p:txBody>
      </p:sp>
      <p:sp>
        <p:nvSpPr>
          <p:cNvPr id="15" name="Shape 12"/>
          <p:cNvSpPr/>
          <p:nvPr/>
        </p:nvSpPr>
        <p:spPr>
          <a:xfrm>
            <a:off x="8597900" y="2171601"/>
            <a:ext cx="279400" cy="279400"/>
          </a:xfrm>
          <a:prstGeom prst="roundRect">
            <a:avLst>
              <a:gd name="adj" fmla="val 50000"/>
            </a:avLst>
          </a:prstGeom>
          <a:solidFill>
            <a:srgbClr val="FFA6C1"/>
          </a:solidFill>
          <a:ln/>
        </p:spPr>
        <p:txBody>
          <a:bodyPr/>
          <a:lstStyle/>
          <a:p>
            <a:endParaRPr lang="en-IN"/>
          </a:p>
        </p:txBody>
      </p:sp>
      <p:pic>
        <p:nvPicPr>
          <p:cNvPr id="16" name="Image 1" descr="Check"/>
          <p:cNvPicPr>
            <a:picLocks noChangeAspect="1"/>
          </p:cNvPicPr>
          <p:nvPr/>
        </p:nvPicPr>
        <p:blipFill>
          <a:blip r:embed="rId3"/>
          <a:srcRect/>
          <a:stretch/>
        </p:blipFill>
        <p:spPr>
          <a:xfrm>
            <a:off x="8648700" y="2222401"/>
            <a:ext cx="177800" cy="177800"/>
          </a:xfrm>
          <a:prstGeom prst="rect">
            <a:avLst/>
          </a:prstGeom>
        </p:spPr>
      </p:pic>
      <p:sp>
        <p:nvSpPr>
          <p:cNvPr id="17" name="Text 13"/>
          <p:cNvSpPr/>
          <p:nvPr/>
        </p:nvSpPr>
        <p:spPr>
          <a:xfrm>
            <a:off x="8978900" y="2195711"/>
            <a:ext cx="156341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Spot Deep Deals</a:t>
            </a:r>
            <a:endParaRPr lang="en-US" sz="1300" dirty="0"/>
          </a:p>
        </p:txBody>
      </p:sp>
      <p:sp>
        <p:nvSpPr>
          <p:cNvPr id="18" name="Text 14"/>
          <p:cNvSpPr/>
          <p:nvPr/>
        </p:nvSpPr>
        <p:spPr>
          <a:xfrm>
            <a:off x="8597900" y="2514501"/>
            <a:ext cx="2681605"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9A9BA"/>
                </a:solidFill>
                <a:latin typeface="Arial" pitchFamily="34" charset="0"/>
                <a:ea typeface="Arial" pitchFamily="34" charset="-122"/>
                <a:cs typeface="Arial" pitchFamily="34" charset="-120"/>
              </a:rPr>
              <a:t>Discount levels and products over 50% off</a:t>
            </a:r>
            <a:endParaRPr lang="en-US" sz="1200" dirty="0"/>
          </a:p>
        </p:txBody>
      </p:sp>
      <p:sp>
        <p:nvSpPr>
          <p:cNvPr id="19" name="Shape 15"/>
          <p:cNvSpPr/>
          <p:nvPr/>
        </p:nvSpPr>
        <p:spPr>
          <a:xfrm>
            <a:off x="5340350" y="3211612"/>
            <a:ext cx="2946400" cy="840680"/>
          </a:xfrm>
          <a:prstGeom prst="roundRect">
            <a:avLst>
              <a:gd name="adj" fmla="val 9819"/>
            </a:avLst>
          </a:prstGeom>
          <a:solidFill>
            <a:srgbClr val="2E1423"/>
          </a:solidFill>
          <a:ln w="12700">
            <a:solidFill>
              <a:srgbClr val="4A2338"/>
            </a:solidFill>
            <a:prstDash val="solid"/>
          </a:ln>
        </p:spPr>
        <p:txBody>
          <a:bodyPr/>
          <a:lstStyle/>
          <a:p>
            <a:endParaRPr lang="en-IN"/>
          </a:p>
        </p:txBody>
      </p:sp>
      <p:sp>
        <p:nvSpPr>
          <p:cNvPr id="20" name="Shape 16"/>
          <p:cNvSpPr/>
          <p:nvPr/>
        </p:nvSpPr>
        <p:spPr>
          <a:xfrm>
            <a:off x="5511800" y="3357662"/>
            <a:ext cx="279400" cy="279400"/>
          </a:xfrm>
          <a:prstGeom prst="roundRect">
            <a:avLst>
              <a:gd name="adj" fmla="val 50000"/>
            </a:avLst>
          </a:prstGeom>
          <a:solidFill>
            <a:srgbClr val="FFA6C1"/>
          </a:solidFill>
          <a:ln/>
        </p:spPr>
        <p:txBody>
          <a:bodyPr/>
          <a:lstStyle/>
          <a:p>
            <a:endParaRPr lang="en-IN"/>
          </a:p>
        </p:txBody>
      </p:sp>
      <p:pic>
        <p:nvPicPr>
          <p:cNvPr id="21" name="Image 2" descr="Check"/>
          <p:cNvPicPr>
            <a:picLocks noChangeAspect="1"/>
          </p:cNvPicPr>
          <p:nvPr/>
        </p:nvPicPr>
        <p:blipFill>
          <a:blip r:embed="rId3"/>
          <a:srcRect/>
          <a:stretch/>
        </p:blipFill>
        <p:spPr>
          <a:xfrm>
            <a:off x="5562600" y="3408462"/>
            <a:ext cx="177800" cy="177800"/>
          </a:xfrm>
          <a:prstGeom prst="rect">
            <a:avLst/>
          </a:prstGeom>
        </p:spPr>
      </p:pic>
      <p:sp>
        <p:nvSpPr>
          <p:cNvPr id="22" name="Text 17"/>
          <p:cNvSpPr/>
          <p:nvPr/>
        </p:nvSpPr>
        <p:spPr>
          <a:xfrm>
            <a:off x="5892800" y="3381772"/>
            <a:ext cx="159639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Compare Brands</a:t>
            </a:r>
            <a:endParaRPr lang="en-US" sz="1300" dirty="0"/>
          </a:p>
        </p:txBody>
      </p:sp>
      <p:sp>
        <p:nvSpPr>
          <p:cNvPr id="23" name="Text 18"/>
          <p:cNvSpPr/>
          <p:nvPr/>
        </p:nvSpPr>
        <p:spPr>
          <a:xfrm>
            <a:off x="5511800" y="3700562"/>
            <a:ext cx="276860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9A9BA"/>
                </a:solidFill>
                <a:latin typeface="Arial" pitchFamily="34" charset="0"/>
                <a:ea typeface="Arial" pitchFamily="34" charset="-122"/>
                <a:cs typeface="Arial" pitchFamily="34" charset="-120"/>
              </a:rPr>
              <a:t>Assortment size and price positioning</a:t>
            </a:r>
            <a:endParaRPr lang="en-US" sz="1200" dirty="0"/>
          </a:p>
        </p:txBody>
      </p:sp>
      <p:sp>
        <p:nvSpPr>
          <p:cNvPr id="24" name="Shape 19"/>
          <p:cNvSpPr/>
          <p:nvPr/>
        </p:nvSpPr>
        <p:spPr>
          <a:xfrm>
            <a:off x="8426450" y="3211612"/>
            <a:ext cx="2946400" cy="840680"/>
          </a:xfrm>
          <a:prstGeom prst="roundRect">
            <a:avLst>
              <a:gd name="adj" fmla="val 9819"/>
            </a:avLst>
          </a:prstGeom>
          <a:solidFill>
            <a:srgbClr val="2E1423"/>
          </a:solidFill>
          <a:ln w="12700">
            <a:solidFill>
              <a:srgbClr val="4A2338"/>
            </a:solidFill>
            <a:prstDash val="solid"/>
          </a:ln>
        </p:spPr>
        <p:txBody>
          <a:bodyPr/>
          <a:lstStyle/>
          <a:p>
            <a:endParaRPr lang="en-IN"/>
          </a:p>
        </p:txBody>
      </p:sp>
      <p:sp>
        <p:nvSpPr>
          <p:cNvPr id="25" name="Shape 20"/>
          <p:cNvSpPr/>
          <p:nvPr/>
        </p:nvSpPr>
        <p:spPr>
          <a:xfrm>
            <a:off x="8597900" y="3357662"/>
            <a:ext cx="279400" cy="279400"/>
          </a:xfrm>
          <a:prstGeom prst="roundRect">
            <a:avLst>
              <a:gd name="adj" fmla="val 50000"/>
            </a:avLst>
          </a:prstGeom>
          <a:solidFill>
            <a:srgbClr val="FFA6C1"/>
          </a:solidFill>
          <a:ln/>
        </p:spPr>
        <p:txBody>
          <a:bodyPr/>
          <a:lstStyle/>
          <a:p>
            <a:endParaRPr lang="en-IN"/>
          </a:p>
        </p:txBody>
      </p:sp>
      <p:pic>
        <p:nvPicPr>
          <p:cNvPr id="26" name="Image 3" descr="Check"/>
          <p:cNvPicPr>
            <a:picLocks noChangeAspect="1"/>
          </p:cNvPicPr>
          <p:nvPr/>
        </p:nvPicPr>
        <p:blipFill>
          <a:blip r:embed="rId3"/>
          <a:srcRect/>
          <a:stretch/>
        </p:blipFill>
        <p:spPr>
          <a:xfrm>
            <a:off x="8648700" y="3408462"/>
            <a:ext cx="177800" cy="177800"/>
          </a:xfrm>
          <a:prstGeom prst="rect">
            <a:avLst/>
          </a:prstGeom>
        </p:spPr>
      </p:pic>
      <p:sp>
        <p:nvSpPr>
          <p:cNvPr id="27" name="Text 21"/>
          <p:cNvSpPr/>
          <p:nvPr/>
        </p:nvSpPr>
        <p:spPr>
          <a:xfrm>
            <a:off x="8978900" y="3381772"/>
            <a:ext cx="193786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Compare Categories</a:t>
            </a:r>
            <a:endParaRPr lang="en-US" sz="1300" dirty="0"/>
          </a:p>
        </p:txBody>
      </p:sp>
      <p:sp>
        <p:nvSpPr>
          <p:cNvPr id="28" name="Text 22"/>
          <p:cNvSpPr/>
          <p:nvPr/>
        </p:nvSpPr>
        <p:spPr>
          <a:xfrm>
            <a:off x="8597900" y="3700562"/>
            <a:ext cx="276860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9A9BA"/>
                </a:solidFill>
                <a:latin typeface="Arial" pitchFamily="34" charset="0"/>
                <a:ea typeface="Arial" pitchFamily="34" charset="-122"/>
                <a:cs typeface="Arial" pitchFamily="34" charset="-120"/>
              </a:rPr>
              <a:t>Price, discount and rating by category</a:t>
            </a:r>
            <a:endParaRPr lang="en-US" sz="1200" dirty="0"/>
          </a:p>
        </p:txBody>
      </p:sp>
      <p:sp>
        <p:nvSpPr>
          <p:cNvPr id="29" name="Shape 23"/>
          <p:cNvSpPr/>
          <p:nvPr/>
        </p:nvSpPr>
        <p:spPr>
          <a:xfrm>
            <a:off x="5340350" y="4191992"/>
            <a:ext cx="2946400" cy="840680"/>
          </a:xfrm>
          <a:prstGeom prst="roundRect">
            <a:avLst>
              <a:gd name="adj" fmla="val 9819"/>
            </a:avLst>
          </a:prstGeom>
          <a:solidFill>
            <a:srgbClr val="2E1423"/>
          </a:solidFill>
          <a:ln w="12700">
            <a:solidFill>
              <a:srgbClr val="4A2338"/>
            </a:solidFill>
            <a:prstDash val="solid"/>
          </a:ln>
        </p:spPr>
        <p:txBody>
          <a:bodyPr/>
          <a:lstStyle/>
          <a:p>
            <a:endParaRPr lang="en-IN"/>
          </a:p>
        </p:txBody>
      </p:sp>
      <p:sp>
        <p:nvSpPr>
          <p:cNvPr id="30" name="Shape 24"/>
          <p:cNvSpPr/>
          <p:nvPr/>
        </p:nvSpPr>
        <p:spPr>
          <a:xfrm>
            <a:off x="5511800" y="4338042"/>
            <a:ext cx="279400" cy="279400"/>
          </a:xfrm>
          <a:prstGeom prst="roundRect">
            <a:avLst>
              <a:gd name="adj" fmla="val 50000"/>
            </a:avLst>
          </a:prstGeom>
          <a:solidFill>
            <a:srgbClr val="FFA6C1"/>
          </a:solidFill>
          <a:ln/>
        </p:spPr>
        <p:txBody>
          <a:bodyPr/>
          <a:lstStyle/>
          <a:p>
            <a:endParaRPr lang="en-IN"/>
          </a:p>
        </p:txBody>
      </p:sp>
      <p:pic>
        <p:nvPicPr>
          <p:cNvPr id="31" name="Image 4" descr="Check"/>
          <p:cNvPicPr>
            <a:picLocks noChangeAspect="1"/>
          </p:cNvPicPr>
          <p:nvPr/>
        </p:nvPicPr>
        <p:blipFill>
          <a:blip r:embed="rId3"/>
          <a:srcRect/>
          <a:stretch/>
        </p:blipFill>
        <p:spPr>
          <a:xfrm>
            <a:off x="5562600" y="4388842"/>
            <a:ext cx="177800" cy="177800"/>
          </a:xfrm>
          <a:prstGeom prst="rect">
            <a:avLst/>
          </a:prstGeom>
        </p:spPr>
      </p:pic>
      <p:sp>
        <p:nvSpPr>
          <p:cNvPr id="32" name="Text 25"/>
          <p:cNvSpPr/>
          <p:nvPr/>
        </p:nvSpPr>
        <p:spPr>
          <a:xfrm>
            <a:off x="5892800" y="4362152"/>
            <a:ext cx="126611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Read Ratings</a:t>
            </a:r>
            <a:endParaRPr lang="en-US" sz="1300" dirty="0"/>
          </a:p>
        </p:txBody>
      </p:sp>
      <p:sp>
        <p:nvSpPr>
          <p:cNvPr id="33" name="Text 26"/>
          <p:cNvSpPr/>
          <p:nvPr/>
        </p:nvSpPr>
        <p:spPr>
          <a:xfrm>
            <a:off x="5511800" y="4680942"/>
            <a:ext cx="276860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9A9BA"/>
                </a:solidFill>
                <a:latin typeface="Arial" pitchFamily="34" charset="0"/>
                <a:ea typeface="Arial" pitchFamily="34" charset="-122"/>
                <a:cs typeface="Arial" pitchFamily="34" charset="-120"/>
              </a:rPr>
              <a:t>Average rating and low-rated products</a:t>
            </a:r>
            <a:endParaRPr lang="en-US" sz="1200" dirty="0"/>
          </a:p>
        </p:txBody>
      </p:sp>
      <p:sp>
        <p:nvSpPr>
          <p:cNvPr id="34" name="Shape 27"/>
          <p:cNvSpPr/>
          <p:nvPr/>
        </p:nvSpPr>
        <p:spPr>
          <a:xfrm>
            <a:off x="8426450" y="4191992"/>
            <a:ext cx="2946400" cy="840680"/>
          </a:xfrm>
          <a:prstGeom prst="roundRect">
            <a:avLst>
              <a:gd name="adj" fmla="val 9819"/>
            </a:avLst>
          </a:prstGeom>
          <a:solidFill>
            <a:srgbClr val="2E1423"/>
          </a:solidFill>
          <a:ln w="12700">
            <a:solidFill>
              <a:srgbClr val="4A2338"/>
            </a:solidFill>
            <a:prstDash val="solid"/>
          </a:ln>
        </p:spPr>
        <p:txBody>
          <a:bodyPr/>
          <a:lstStyle/>
          <a:p>
            <a:endParaRPr lang="en-IN"/>
          </a:p>
        </p:txBody>
      </p:sp>
      <p:sp>
        <p:nvSpPr>
          <p:cNvPr id="35" name="Shape 28"/>
          <p:cNvSpPr/>
          <p:nvPr/>
        </p:nvSpPr>
        <p:spPr>
          <a:xfrm>
            <a:off x="8597900" y="4338042"/>
            <a:ext cx="279400" cy="279400"/>
          </a:xfrm>
          <a:prstGeom prst="roundRect">
            <a:avLst>
              <a:gd name="adj" fmla="val 50000"/>
            </a:avLst>
          </a:prstGeom>
          <a:solidFill>
            <a:srgbClr val="FFA6C1"/>
          </a:solidFill>
          <a:ln/>
        </p:spPr>
        <p:txBody>
          <a:bodyPr/>
          <a:lstStyle/>
          <a:p>
            <a:endParaRPr lang="en-IN"/>
          </a:p>
        </p:txBody>
      </p:sp>
      <p:pic>
        <p:nvPicPr>
          <p:cNvPr id="36" name="Image 5" descr="Check"/>
          <p:cNvPicPr>
            <a:picLocks noChangeAspect="1"/>
          </p:cNvPicPr>
          <p:nvPr/>
        </p:nvPicPr>
        <p:blipFill>
          <a:blip r:embed="rId3"/>
          <a:srcRect/>
          <a:stretch/>
        </p:blipFill>
        <p:spPr>
          <a:xfrm>
            <a:off x="8648700" y="4388842"/>
            <a:ext cx="177800" cy="177800"/>
          </a:xfrm>
          <a:prstGeom prst="rect">
            <a:avLst/>
          </a:prstGeom>
        </p:spPr>
      </p:pic>
      <p:sp>
        <p:nvSpPr>
          <p:cNvPr id="37" name="Text 29"/>
          <p:cNvSpPr/>
          <p:nvPr/>
        </p:nvSpPr>
        <p:spPr>
          <a:xfrm>
            <a:off x="8978900" y="4362152"/>
            <a:ext cx="194869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Investigate Products</a:t>
            </a:r>
            <a:endParaRPr lang="en-US" sz="1300" dirty="0"/>
          </a:p>
        </p:txBody>
      </p:sp>
      <p:sp>
        <p:nvSpPr>
          <p:cNvPr id="38" name="Text 30"/>
          <p:cNvSpPr/>
          <p:nvPr/>
        </p:nvSpPr>
        <p:spPr>
          <a:xfrm>
            <a:off x="8597900" y="4680942"/>
            <a:ext cx="2681605"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9A9BA"/>
                </a:solidFill>
                <a:latin typeface="Arial" pitchFamily="34" charset="0"/>
                <a:ea typeface="Arial" pitchFamily="34" charset="-122"/>
                <a:cs typeface="Arial" pitchFamily="34" charset="-120"/>
              </a:rPr>
              <a:t>Drill into any product with slicers</a:t>
            </a:r>
            <a:endParaRPr lang="en-US" sz="1200" dirty="0"/>
          </a:p>
        </p:txBody>
      </p:sp>
      <p:sp>
        <p:nvSpPr>
          <p:cNvPr id="39" name="Text 3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8598"/>
                </a:solidFill>
                <a:latin typeface="Arial" pitchFamily="34" charset="0"/>
                <a:ea typeface="Arial" pitchFamily="34" charset="-122"/>
                <a:cs typeface="Arial" pitchFamily="34" charset="-120"/>
              </a:rPr>
              <a:t>Myntra Beauty Analytics | Power BI Project</a:t>
            </a:r>
            <a:endParaRPr lang="en-US" sz="1200" dirty="0"/>
          </a:p>
        </p:txBody>
      </p:sp>
      <p:sp>
        <p:nvSpPr>
          <p:cNvPr id="40" name="Text 3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08598"/>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0A16"/>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2172"/>
          </a:xfrm>
          <a:prstGeom prst="rect">
            <a:avLst/>
          </a:prstGeom>
          <a:noFill/>
          <a:ln/>
        </p:spPr>
        <p:txBody>
          <a:bodyPr wrap="square" lIns="0" tIns="0" rIns="0" bIns="0" rtlCol="0" anchor="t">
            <a:normAutofit/>
          </a:bodyPr>
          <a:lstStyle/>
          <a:p>
            <a:pPr marL="0" indent="0" algn="l">
              <a:lnSpc>
                <a:spcPts val="1675"/>
              </a:lnSpc>
              <a:buNone/>
            </a:pPr>
            <a:r>
              <a:rPr lang="en-US" sz="1196" b="1" kern="0" spc="250" dirty="0">
                <a:solidFill>
                  <a:srgbClr val="FFA6C1"/>
                </a:solidFill>
                <a:latin typeface="Arial" pitchFamily="34" charset="0"/>
                <a:ea typeface="Arial" pitchFamily="34" charset="-122"/>
                <a:cs typeface="Arial" pitchFamily="34" charset="-120"/>
              </a:rPr>
              <a:t>THE CHALLENGE</a:t>
            </a:r>
            <a:endParaRPr lang="en-US" sz="1196" dirty="0"/>
          </a:p>
        </p:txBody>
      </p:sp>
      <p:sp>
        <p:nvSpPr>
          <p:cNvPr id="3" name="Text 1"/>
          <p:cNvSpPr>
            <a:spLocks noGrp="1"/>
          </p:cNvSpPr>
          <p:nvPr>
            <p:ph type="title"/>
          </p:nvPr>
        </p:nvSpPr>
        <p:spPr>
          <a:xfrm>
            <a:off x="812800" y="994172"/>
            <a:ext cx="10883392" cy="458589"/>
          </a:xfrm>
          <a:prstGeom prst="rect">
            <a:avLst/>
          </a:prstGeom>
          <a:noFill/>
          <a:ln/>
        </p:spPr>
        <p:txBody>
          <a:bodyPr wrap="square" lIns="0" tIns="0" rIns="0" bIns="0" rtlCol="0" anchor="t">
            <a:normAutofit/>
          </a:bodyPr>
          <a:lstStyle/>
          <a:p>
            <a:pPr marL="0" indent="0" algn="l">
              <a:lnSpc>
                <a:spcPts val="3421"/>
              </a:lnSpc>
              <a:buNone/>
            </a:pPr>
            <a:r>
              <a:rPr lang="en-US" sz="3110" b="1" i="0" dirty="0">
                <a:solidFill>
                  <a:srgbClr val="FF4F81"/>
                </a:solidFill>
                <a:latin typeface="Arial" pitchFamily="34" charset="0"/>
                <a:ea typeface="Arial" pitchFamily="34" charset="-122"/>
                <a:cs typeface="Arial" pitchFamily="34" charset="-120"/>
              </a:rPr>
              <a:t>Problem Statement</a:t>
            </a:r>
            <a:endParaRPr lang="en-US" sz="3110" dirty="0"/>
          </a:p>
        </p:txBody>
      </p:sp>
      <p:sp>
        <p:nvSpPr>
          <p:cNvPr id="4" name="Text 2"/>
          <p:cNvSpPr/>
          <p:nvPr/>
        </p:nvSpPr>
        <p:spPr>
          <a:xfrm>
            <a:off x="819150" y="1611511"/>
            <a:ext cx="10553700" cy="1013321"/>
          </a:xfrm>
          <a:prstGeom prst="roundRect">
            <a:avLst>
              <a:gd name="adj" fmla="val 9400"/>
            </a:avLst>
          </a:prstGeom>
          <a:solidFill>
            <a:srgbClr val="2E1423"/>
          </a:solidFill>
          <a:ln w="12700">
            <a:solidFill>
              <a:srgbClr val="4A2338"/>
            </a:solidFill>
            <a:prstDash val="solid"/>
          </a:ln>
        </p:spPr>
        <p:txBody>
          <a:bodyPr wrap="square" lIns="207052" tIns="130852" rIns="0" bIns="105452" rtlCol="0" anchor="t">
            <a:normAutofit/>
          </a:bodyPr>
          <a:lstStyle/>
          <a:p>
            <a:pPr marL="0" indent="0" algn="l">
              <a:lnSpc>
                <a:spcPts val="1861"/>
              </a:lnSpc>
              <a:buNone/>
            </a:pPr>
            <a:r>
              <a:rPr lang="en-US" sz="1284" dirty="0">
                <a:solidFill>
                  <a:srgbClr val="FFF1F5"/>
                </a:solidFill>
                <a:latin typeface="Arial" pitchFamily="34" charset="0"/>
                <a:ea typeface="Arial" pitchFamily="34" charset="-122"/>
                <a:cs typeface="Arial" pitchFamily="34" charset="-120"/>
              </a:rPr>
              <a:t>Beauty marketplaces list thousands of products with changing prices, discounts and ratings, spread across raw web pages that are hard to compare. Without a clean model it is difficult to see which categories discount most, which brands dominate and what customers rate highly.</a:t>
            </a:r>
            <a:endParaRPr lang="en-US" sz="1284" dirty="0"/>
          </a:p>
        </p:txBody>
      </p:sp>
      <p:sp>
        <p:nvSpPr>
          <p:cNvPr id="5" name="Text 3"/>
          <p:cNvSpPr/>
          <p:nvPr/>
        </p:nvSpPr>
        <p:spPr>
          <a:xfrm>
            <a:off x="812800" y="2808982"/>
            <a:ext cx="10883392" cy="283865"/>
          </a:xfrm>
          <a:prstGeom prst="rect">
            <a:avLst/>
          </a:prstGeom>
          <a:noFill/>
          <a:ln/>
        </p:spPr>
        <p:txBody>
          <a:bodyPr wrap="square" lIns="0" tIns="0" rIns="0" bIns="0" rtlCol="0" anchor="t">
            <a:normAutofit/>
          </a:bodyPr>
          <a:lstStyle/>
          <a:p>
            <a:pPr marL="0" indent="0" algn="l">
              <a:lnSpc>
                <a:spcPts val="2074"/>
              </a:lnSpc>
              <a:buNone/>
            </a:pPr>
            <a:r>
              <a:rPr lang="en-US" sz="1481" b="1" dirty="0">
                <a:solidFill>
                  <a:srgbClr val="FFF1F5"/>
                </a:solidFill>
                <a:latin typeface="Arial" pitchFamily="34" charset="0"/>
                <a:ea typeface="Arial" pitchFamily="34" charset="-122"/>
                <a:cs typeface="Arial" pitchFamily="34" charset="-120"/>
              </a:rPr>
              <a:t>This Project Aims To:</a:t>
            </a:r>
            <a:endParaRPr lang="en-US" sz="1481" dirty="0"/>
          </a:p>
        </p:txBody>
      </p:sp>
      <p:sp>
        <p:nvSpPr>
          <p:cNvPr id="6" name="Shape 4"/>
          <p:cNvSpPr/>
          <p:nvPr/>
        </p:nvSpPr>
        <p:spPr>
          <a:xfrm>
            <a:off x="812800" y="3334742"/>
            <a:ext cx="279400" cy="279400"/>
          </a:xfrm>
          <a:prstGeom prst="roundRect">
            <a:avLst>
              <a:gd name="adj" fmla="val 50000"/>
            </a:avLst>
          </a:prstGeom>
          <a:solidFill>
            <a:srgbClr val="FFA6C1"/>
          </a:solidFill>
          <a:ln/>
        </p:spPr>
        <p:txBody>
          <a:bodyPr/>
          <a:lstStyle/>
          <a:p>
            <a:endParaRPr lang="en-IN"/>
          </a:p>
        </p:txBody>
      </p:sp>
      <p:pic>
        <p:nvPicPr>
          <p:cNvPr id="7" name="Image 0" descr="Check"/>
          <p:cNvPicPr>
            <a:picLocks noChangeAspect="1"/>
          </p:cNvPicPr>
          <p:nvPr/>
        </p:nvPicPr>
        <p:blipFill>
          <a:blip r:embed="rId3"/>
          <a:srcRect/>
          <a:stretch/>
        </p:blipFill>
        <p:spPr>
          <a:xfrm>
            <a:off x="863600" y="3385542"/>
            <a:ext cx="177800" cy="177800"/>
          </a:xfrm>
          <a:prstGeom prst="rect">
            <a:avLst/>
          </a:prstGeom>
        </p:spPr>
      </p:pic>
      <p:sp>
        <p:nvSpPr>
          <p:cNvPr id="8" name="Text 5"/>
          <p:cNvSpPr/>
          <p:nvPr/>
        </p:nvSpPr>
        <p:spPr>
          <a:xfrm>
            <a:off x="1219200" y="3237012"/>
            <a:ext cx="345553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1F5"/>
                </a:solidFill>
                <a:latin typeface="Arial" pitchFamily="34" charset="0"/>
                <a:ea typeface="Arial" pitchFamily="34" charset="-122"/>
                <a:cs typeface="Arial" pitchFamily="34" charset="-120"/>
              </a:rPr>
              <a:t>Collect &amp; Clean Listing Data</a:t>
            </a:r>
            <a:endParaRPr lang="en-US" sz="1400" dirty="0"/>
          </a:p>
        </p:txBody>
      </p:sp>
      <p:sp>
        <p:nvSpPr>
          <p:cNvPr id="9" name="Text 6"/>
          <p:cNvSpPr/>
          <p:nvPr/>
        </p:nvSpPr>
        <p:spPr>
          <a:xfrm>
            <a:off x="1219200" y="3498552"/>
            <a:ext cx="40258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Scrape 18,908 products and fix inconsistent fields</a:t>
            </a:r>
            <a:endParaRPr lang="en-US" sz="1200" dirty="0"/>
          </a:p>
        </p:txBody>
      </p:sp>
      <p:sp>
        <p:nvSpPr>
          <p:cNvPr id="10" name="Shape 7"/>
          <p:cNvSpPr/>
          <p:nvPr/>
        </p:nvSpPr>
        <p:spPr>
          <a:xfrm>
            <a:off x="812800" y="3869333"/>
            <a:ext cx="279400" cy="279400"/>
          </a:xfrm>
          <a:prstGeom prst="roundRect">
            <a:avLst>
              <a:gd name="adj" fmla="val 50000"/>
            </a:avLst>
          </a:prstGeom>
          <a:solidFill>
            <a:srgbClr val="FFA6C1"/>
          </a:solidFill>
          <a:ln/>
        </p:spPr>
        <p:txBody>
          <a:bodyPr/>
          <a:lstStyle/>
          <a:p>
            <a:endParaRPr lang="en-IN"/>
          </a:p>
        </p:txBody>
      </p:sp>
      <p:pic>
        <p:nvPicPr>
          <p:cNvPr id="11" name="Image 1" descr="Check"/>
          <p:cNvPicPr>
            <a:picLocks noChangeAspect="1"/>
          </p:cNvPicPr>
          <p:nvPr/>
        </p:nvPicPr>
        <p:blipFill>
          <a:blip r:embed="rId3"/>
          <a:srcRect/>
          <a:stretch/>
        </p:blipFill>
        <p:spPr>
          <a:xfrm>
            <a:off x="863600" y="3920133"/>
            <a:ext cx="177800" cy="177800"/>
          </a:xfrm>
          <a:prstGeom prst="rect">
            <a:avLst/>
          </a:prstGeom>
        </p:spPr>
      </p:pic>
      <p:sp>
        <p:nvSpPr>
          <p:cNvPr id="12" name="Text 8"/>
          <p:cNvSpPr/>
          <p:nvPr/>
        </p:nvSpPr>
        <p:spPr>
          <a:xfrm>
            <a:off x="1219200" y="3771602"/>
            <a:ext cx="372593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1F5"/>
                </a:solidFill>
                <a:latin typeface="Arial" pitchFamily="34" charset="0"/>
                <a:ea typeface="Arial" pitchFamily="34" charset="-122"/>
                <a:cs typeface="Arial" pitchFamily="34" charset="-120"/>
              </a:rPr>
              <a:t>Visualize Price &amp; Discount Patterns</a:t>
            </a:r>
            <a:endParaRPr lang="en-US" sz="1400" dirty="0"/>
          </a:p>
        </p:txBody>
      </p:sp>
      <p:sp>
        <p:nvSpPr>
          <p:cNvPr id="13" name="Text 9"/>
          <p:cNvSpPr/>
          <p:nvPr/>
        </p:nvSpPr>
        <p:spPr>
          <a:xfrm>
            <a:off x="1219200" y="4033143"/>
            <a:ext cx="43409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Reveal how price bands and discounts are distributed</a:t>
            </a:r>
            <a:endParaRPr lang="en-US" sz="1200" dirty="0"/>
          </a:p>
        </p:txBody>
      </p:sp>
      <p:sp>
        <p:nvSpPr>
          <p:cNvPr id="14" name="Shape 10"/>
          <p:cNvSpPr/>
          <p:nvPr/>
        </p:nvSpPr>
        <p:spPr>
          <a:xfrm>
            <a:off x="812800" y="4403923"/>
            <a:ext cx="279400" cy="279400"/>
          </a:xfrm>
          <a:prstGeom prst="roundRect">
            <a:avLst>
              <a:gd name="adj" fmla="val 50000"/>
            </a:avLst>
          </a:prstGeom>
          <a:solidFill>
            <a:srgbClr val="FFA6C1"/>
          </a:solidFill>
          <a:ln/>
        </p:spPr>
        <p:txBody>
          <a:bodyPr/>
          <a:lstStyle/>
          <a:p>
            <a:endParaRPr lang="en-IN"/>
          </a:p>
        </p:txBody>
      </p:sp>
      <p:pic>
        <p:nvPicPr>
          <p:cNvPr id="15" name="Image 2" descr="Check"/>
          <p:cNvPicPr>
            <a:picLocks noChangeAspect="1"/>
          </p:cNvPicPr>
          <p:nvPr/>
        </p:nvPicPr>
        <p:blipFill>
          <a:blip r:embed="rId3"/>
          <a:srcRect/>
          <a:stretch/>
        </p:blipFill>
        <p:spPr>
          <a:xfrm>
            <a:off x="863600" y="4454723"/>
            <a:ext cx="177800" cy="177800"/>
          </a:xfrm>
          <a:prstGeom prst="rect">
            <a:avLst/>
          </a:prstGeom>
        </p:spPr>
      </p:pic>
      <p:sp>
        <p:nvSpPr>
          <p:cNvPr id="16" name="Text 11"/>
          <p:cNvSpPr/>
          <p:nvPr/>
        </p:nvSpPr>
        <p:spPr>
          <a:xfrm>
            <a:off x="1219200" y="4306193"/>
            <a:ext cx="4074834"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1F5"/>
                </a:solidFill>
                <a:latin typeface="Arial" pitchFamily="34" charset="0"/>
                <a:ea typeface="Arial" pitchFamily="34" charset="-122"/>
                <a:cs typeface="Arial" pitchFamily="34" charset="-120"/>
              </a:rPr>
              <a:t>Compare Brands &amp; Categories</a:t>
            </a:r>
            <a:endParaRPr lang="en-US" sz="1400" dirty="0"/>
          </a:p>
        </p:txBody>
      </p:sp>
      <p:sp>
        <p:nvSpPr>
          <p:cNvPr id="17" name="Text 12"/>
          <p:cNvSpPr/>
          <p:nvPr/>
        </p:nvSpPr>
        <p:spPr>
          <a:xfrm>
            <a:off x="1219200" y="4567734"/>
            <a:ext cx="47473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Show who sells the most and how brands position on price</a:t>
            </a:r>
            <a:endParaRPr lang="en-US" sz="1200" dirty="0"/>
          </a:p>
        </p:txBody>
      </p:sp>
      <p:sp>
        <p:nvSpPr>
          <p:cNvPr id="18" name="Shape 13"/>
          <p:cNvSpPr/>
          <p:nvPr/>
        </p:nvSpPr>
        <p:spPr>
          <a:xfrm>
            <a:off x="812800" y="4938514"/>
            <a:ext cx="279400" cy="279400"/>
          </a:xfrm>
          <a:prstGeom prst="roundRect">
            <a:avLst>
              <a:gd name="adj" fmla="val 50000"/>
            </a:avLst>
          </a:prstGeom>
          <a:solidFill>
            <a:srgbClr val="FFA6C1"/>
          </a:solidFill>
          <a:ln/>
        </p:spPr>
        <p:txBody>
          <a:bodyPr/>
          <a:lstStyle/>
          <a:p>
            <a:endParaRPr lang="en-IN"/>
          </a:p>
        </p:txBody>
      </p:sp>
      <p:pic>
        <p:nvPicPr>
          <p:cNvPr id="19" name="Image 3" descr="Check"/>
          <p:cNvPicPr>
            <a:picLocks noChangeAspect="1"/>
          </p:cNvPicPr>
          <p:nvPr/>
        </p:nvPicPr>
        <p:blipFill>
          <a:blip r:embed="rId3"/>
          <a:srcRect/>
          <a:stretch/>
        </p:blipFill>
        <p:spPr>
          <a:xfrm>
            <a:off x="863600" y="4989314"/>
            <a:ext cx="177800" cy="177800"/>
          </a:xfrm>
          <a:prstGeom prst="rect">
            <a:avLst/>
          </a:prstGeom>
        </p:spPr>
      </p:pic>
      <p:sp>
        <p:nvSpPr>
          <p:cNvPr id="20" name="Text 14"/>
          <p:cNvSpPr/>
          <p:nvPr/>
        </p:nvSpPr>
        <p:spPr>
          <a:xfrm>
            <a:off x="1219200" y="4840784"/>
            <a:ext cx="4013517"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1F5"/>
                </a:solidFill>
                <a:latin typeface="Arial" pitchFamily="34" charset="0"/>
                <a:ea typeface="Arial" pitchFamily="34" charset="-122"/>
                <a:cs typeface="Arial" pitchFamily="34" charset="-120"/>
              </a:rPr>
              <a:t>Understand Customer Ratings</a:t>
            </a:r>
            <a:endParaRPr lang="en-US" sz="1400" dirty="0"/>
          </a:p>
        </p:txBody>
      </p:sp>
      <p:sp>
        <p:nvSpPr>
          <p:cNvPr id="21" name="Text 15"/>
          <p:cNvSpPr/>
          <p:nvPr/>
        </p:nvSpPr>
        <p:spPr>
          <a:xfrm>
            <a:off x="1219200" y="5102324"/>
            <a:ext cx="46759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Highlight which products customers rate highly and poorly</a:t>
            </a:r>
            <a:endParaRPr lang="en-US" sz="1200" dirty="0"/>
          </a:p>
        </p:txBody>
      </p:sp>
      <p:sp>
        <p:nvSpPr>
          <p:cNvPr id="22" name="Shape 16"/>
          <p:cNvSpPr/>
          <p:nvPr/>
        </p:nvSpPr>
        <p:spPr>
          <a:xfrm>
            <a:off x="812800" y="5473105"/>
            <a:ext cx="279400" cy="279400"/>
          </a:xfrm>
          <a:prstGeom prst="roundRect">
            <a:avLst>
              <a:gd name="adj" fmla="val 50000"/>
            </a:avLst>
          </a:prstGeom>
          <a:solidFill>
            <a:srgbClr val="FFA6C1"/>
          </a:solidFill>
          <a:ln/>
        </p:spPr>
        <p:txBody>
          <a:bodyPr/>
          <a:lstStyle/>
          <a:p>
            <a:endParaRPr lang="en-IN"/>
          </a:p>
        </p:txBody>
      </p:sp>
      <p:pic>
        <p:nvPicPr>
          <p:cNvPr id="23" name="Image 4" descr="Check"/>
          <p:cNvPicPr>
            <a:picLocks noChangeAspect="1"/>
          </p:cNvPicPr>
          <p:nvPr/>
        </p:nvPicPr>
        <p:blipFill>
          <a:blip r:embed="rId3"/>
          <a:srcRect/>
          <a:stretch/>
        </p:blipFill>
        <p:spPr>
          <a:xfrm>
            <a:off x="863600" y="5523905"/>
            <a:ext cx="177800" cy="177800"/>
          </a:xfrm>
          <a:prstGeom prst="rect">
            <a:avLst/>
          </a:prstGeom>
        </p:spPr>
      </p:pic>
      <p:sp>
        <p:nvSpPr>
          <p:cNvPr id="24" name="Text 17"/>
          <p:cNvSpPr/>
          <p:nvPr/>
        </p:nvSpPr>
        <p:spPr>
          <a:xfrm>
            <a:off x="1219200" y="5375374"/>
            <a:ext cx="431918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1F5"/>
                </a:solidFill>
                <a:latin typeface="Arial" pitchFamily="34" charset="0"/>
                <a:ea typeface="Arial" pitchFamily="34" charset="-122"/>
                <a:cs typeface="Arial" pitchFamily="34" charset="-120"/>
              </a:rPr>
              <a:t>Support Pricing Strategy</a:t>
            </a:r>
            <a:endParaRPr lang="en-US" sz="1400" dirty="0"/>
          </a:p>
        </p:txBody>
      </p:sp>
      <p:sp>
        <p:nvSpPr>
          <p:cNvPr id="25" name="Text 18"/>
          <p:cNvSpPr/>
          <p:nvPr/>
        </p:nvSpPr>
        <p:spPr>
          <a:xfrm>
            <a:off x="1219200" y="5636915"/>
            <a:ext cx="50320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Enable data-driven pricing, assortment and discount decisions</a:t>
            </a:r>
            <a:endParaRPr lang="en-US" sz="1200" dirty="0"/>
          </a:p>
        </p:txBody>
      </p:sp>
      <p:sp>
        <p:nvSpPr>
          <p:cNvPr id="26"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8598"/>
                </a:solidFill>
                <a:latin typeface="Arial" pitchFamily="34" charset="0"/>
                <a:ea typeface="Arial" pitchFamily="34" charset="-122"/>
                <a:cs typeface="Arial" pitchFamily="34" charset="-120"/>
              </a:rPr>
              <a:t>Myntra Beauty Analytics | Power BI Project</a:t>
            </a:r>
            <a:endParaRPr lang="en-US" sz="1200" dirty="0"/>
          </a:p>
        </p:txBody>
      </p:sp>
      <p:sp>
        <p:nvSpPr>
          <p:cNvPr id="27" name="Text 2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08598"/>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0A16"/>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50" dirty="0">
                <a:solidFill>
                  <a:srgbClr val="FFA6C1"/>
                </a:solidFill>
                <a:latin typeface="Arial" pitchFamily="34" charset="0"/>
                <a:ea typeface="Arial" pitchFamily="34" charset="-122"/>
                <a:cs typeface="Arial" pitchFamily="34" charset="-120"/>
              </a:rPr>
              <a:t>HOW IT WAS BUILT</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4F81"/>
                </a:solidFill>
                <a:latin typeface="Arial" pitchFamily="34" charset="0"/>
                <a:ea typeface="Arial" pitchFamily="34" charset="-122"/>
                <a:cs typeface="Arial" pitchFamily="34" charset="-120"/>
              </a:rPr>
              <a:t>Project Workflow</a:t>
            </a:r>
            <a:endParaRPr lang="en-US" sz="3200" dirty="0"/>
          </a:p>
        </p:txBody>
      </p:sp>
      <p:sp>
        <p:nvSpPr>
          <p:cNvPr id="4" name="Shape 2"/>
          <p:cNvSpPr/>
          <p:nvPr/>
        </p:nvSpPr>
        <p:spPr>
          <a:xfrm>
            <a:off x="819150" y="1682651"/>
            <a:ext cx="1978620" cy="2450902"/>
          </a:xfrm>
          <a:prstGeom prst="roundRect">
            <a:avLst>
              <a:gd name="adj" fmla="val 4814"/>
            </a:avLst>
          </a:prstGeom>
          <a:solidFill>
            <a:srgbClr val="2E1423"/>
          </a:solidFill>
          <a:ln w="12700">
            <a:solidFill>
              <a:srgbClr val="4A2338"/>
            </a:solidFill>
            <a:prstDash val="solid"/>
          </a:ln>
        </p:spPr>
        <p:txBody>
          <a:bodyPr/>
          <a:lstStyle/>
          <a:p>
            <a:endParaRPr lang="en-IN"/>
          </a:p>
        </p:txBody>
      </p:sp>
      <p:sp>
        <p:nvSpPr>
          <p:cNvPr id="5" name="Text 3"/>
          <p:cNvSpPr/>
          <p:nvPr/>
        </p:nvSpPr>
        <p:spPr>
          <a:xfrm>
            <a:off x="977900" y="1866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4F81"/>
          </a:solidFill>
          <a:ln/>
        </p:spPr>
        <p:txBody>
          <a:bodyPr wrap="square" lIns="0" tIns="0" rIns="0" bIns="0" rtlCol="0" anchor="t">
            <a:normAutofit/>
          </a:bodyPr>
          <a:lstStyle/>
          <a:p>
            <a:pPr marL="0" indent="0" algn="ctr">
              <a:lnSpc>
                <a:spcPts val="2800"/>
              </a:lnSpc>
              <a:buNone/>
            </a:pPr>
            <a:r>
              <a:rPr lang="en-US" sz="1400" b="1" dirty="0">
                <a:solidFill>
                  <a:srgbClr val="1F0A16"/>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977900" y="2324001"/>
            <a:ext cx="17119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1F5"/>
                </a:solidFill>
                <a:latin typeface="Arial" pitchFamily="34" charset="0"/>
                <a:ea typeface="Arial" pitchFamily="34" charset="-122"/>
                <a:cs typeface="Arial" pitchFamily="34" charset="-120"/>
              </a:rPr>
              <a:t>Web Scraping</a:t>
            </a:r>
            <a:endParaRPr lang="en-US" sz="1500" dirty="0"/>
          </a:p>
        </p:txBody>
      </p:sp>
      <p:sp>
        <p:nvSpPr>
          <p:cNvPr id="7" name="Text 5"/>
          <p:cNvSpPr/>
          <p:nvPr/>
        </p:nvSpPr>
        <p:spPr>
          <a:xfrm>
            <a:off x="977900" y="2654201"/>
            <a:ext cx="171192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Playwright scripts opened Myntra category pages and pulled price, MRP, rating and brand for every listing.</a:t>
            </a:r>
            <a:endParaRPr lang="en-US" sz="1200" dirty="0"/>
          </a:p>
        </p:txBody>
      </p:sp>
      <p:sp>
        <p:nvSpPr>
          <p:cNvPr id="8" name="Shape 6"/>
          <p:cNvSpPr/>
          <p:nvPr/>
        </p:nvSpPr>
        <p:spPr>
          <a:xfrm>
            <a:off x="2962870" y="1682651"/>
            <a:ext cx="1978720" cy="2450902"/>
          </a:xfrm>
          <a:prstGeom prst="roundRect">
            <a:avLst>
              <a:gd name="adj" fmla="val 4814"/>
            </a:avLst>
          </a:prstGeom>
          <a:solidFill>
            <a:srgbClr val="2E1423"/>
          </a:solidFill>
          <a:ln w="12700">
            <a:solidFill>
              <a:srgbClr val="4A2338"/>
            </a:solidFill>
            <a:prstDash val="solid"/>
          </a:ln>
        </p:spPr>
        <p:txBody>
          <a:bodyPr/>
          <a:lstStyle/>
          <a:p>
            <a:endParaRPr lang="en-IN"/>
          </a:p>
        </p:txBody>
      </p:sp>
      <p:sp>
        <p:nvSpPr>
          <p:cNvPr id="9" name="Text 7"/>
          <p:cNvSpPr/>
          <p:nvPr/>
        </p:nvSpPr>
        <p:spPr>
          <a:xfrm>
            <a:off x="3121620" y="1866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A6C1"/>
          </a:solidFill>
          <a:ln/>
        </p:spPr>
        <p:txBody>
          <a:bodyPr wrap="square" lIns="0" tIns="0" rIns="0" bIns="0" rtlCol="0" anchor="t">
            <a:normAutofit/>
          </a:bodyPr>
          <a:lstStyle/>
          <a:p>
            <a:pPr marL="0" indent="0" algn="ctr">
              <a:lnSpc>
                <a:spcPts val="2800"/>
              </a:lnSpc>
              <a:buNone/>
            </a:pPr>
            <a:r>
              <a:rPr lang="en-US" sz="1400" b="1" dirty="0">
                <a:solidFill>
                  <a:srgbClr val="1F0A16"/>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3121620" y="2324001"/>
            <a:ext cx="1712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1F5"/>
                </a:solidFill>
                <a:latin typeface="Arial" pitchFamily="34" charset="0"/>
                <a:ea typeface="Arial" pitchFamily="34" charset="-122"/>
                <a:cs typeface="Arial" pitchFamily="34" charset="-120"/>
              </a:rPr>
              <a:t>Variant Collection</a:t>
            </a:r>
            <a:endParaRPr lang="en-US" sz="1500" dirty="0"/>
          </a:p>
        </p:txBody>
      </p:sp>
      <p:sp>
        <p:nvSpPr>
          <p:cNvPr id="11" name="Text 9"/>
          <p:cNvSpPr/>
          <p:nvPr/>
        </p:nvSpPr>
        <p:spPr>
          <a:xfrm>
            <a:off x="3121620" y="2654201"/>
            <a:ext cx="171202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A resumable crawler visited product pages to gather size and colour variants.</a:t>
            </a:r>
            <a:endParaRPr lang="en-US" sz="1200" dirty="0"/>
          </a:p>
        </p:txBody>
      </p:sp>
      <p:sp>
        <p:nvSpPr>
          <p:cNvPr id="12" name="Shape 10"/>
          <p:cNvSpPr/>
          <p:nvPr/>
        </p:nvSpPr>
        <p:spPr>
          <a:xfrm>
            <a:off x="5106690" y="1682651"/>
            <a:ext cx="1978620" cy="2450902"/>
          </a:xfrm>
          <a:prstGeom prst="roundRect">
            <a:avLst>
              <a:gd name="adj" fmla="val 4814"/>
            </a:avLst>
          </a:prstGeom>
          <a:solidFill>
            <a:srgbClr val="2E1423"/>
          </a:solidFill>
          <a:ln w="12700">
            <a:solidFill>
              <a:srgbClr val="4A2338"/>
            </a:solidFill>
            <a:prstDash val="solid"/>
          </a:ln>
        </p:spPr>
        <p:txBody>
          <a:bodyPr/>
          <a:lstStyle/>
          <a:p>
            <a:endParaRPr lang="en-IN"/>
          </a:p>
        </p:txBody>
      </p:sp>
      <p:sp>
        <p:nvSpPr>
          <p:cNvPr id="13" name="Text 11"/>
          <p:cNvSpPr/>
          <p:nvPr/>
        </p:nvSpPr>
        <p:spPr>
          <a:xfrm>
            <a:off x="5265440" y="1866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4F81"/>
          </a:solidFill>
          <a:ln/>
        </p:spPr>
        <p:txBody>
          <a:bodyPr wrap="square" lIns="0" tIns="0" rIns="0" bIns="0" rtlCol="0" anchor="t">
            <a:normAutofit/>
          </a:bodyPr>
          <a:lstStyle/>
          <a:p>
            <a:pPr marL="0" indent="0" algn="ctr">
              <a:lnSpc>
                <a:spcPts val="2800"/>
              </a:lnSpc>
              <a:buNone/>
            </a:pPr>
            <a:r>
              <a:rPr lang="en-US" sz="1400" b="1" dirty="0">
                <a:solidFill>
                  <a:srgbClr val="1F0A16"/>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5265440" y="2324001"/>
            <a:ext cx="171192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1F5"/>
                </a:solidFill>
                <a:latin typeface="Arial" pitchFamily="34" charset="0"/>
                <a:ea typeface="Arial" pitchFamily="34" charset="-122"/>
                <a:cs typeface="Arial" pitchFamily="34" charset="-120"/>
              </a:rPr>
              <a:t>Cleaning in Python</a:t>
            </a:r>
            <a:endParaRPr lang="en-US" sz="1500" dirty="0"/>
          </a:p>
        </p:txBody>
      </p:sp>
      <p:sp>
        <p:nvSpPr>
          <p:cNvPr id="15" name="Text 13"/>
          <p:cNvSpPr/>
          <p:nvPr/>
        </p:nvSpPr>
        <p:spPr>
          <a:xfrm>
            <a:off x="5265440" y="2882801"/>
            <a:ext cx="171192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Pandas checked duplicates, fixed discount values and separated unrated products.</a:t>
            </a:r>
            <a:endParaRPr lang="en-US" sz="1200" dirty="0"/>
          </a:p>
        </p:txBody>
      </p:sp>
      <p:sp>
        <p:nvSpPr>
          <p:cNvPr id="16" name="Shape 14"/>
          <p:cNvSpPr/>
          <p:nvPr/>
        </p:nvSpPr>
        <p:spPr>
          <a:xfrm>
            <a:off x="7250410" y="1682651"/>
            <a:ext cx="1978720" cy="2450902"/>
          </a:xfrm>
          <a:prstGeom prst="roundRect">
            <a:avLst>
              <a:gd name="adj" fmla="val 4814"/>
            </a:avLst>
          </a:prstGeom>
          <a:solidFill>
            <a:srgbClr val="2E1423"/>
          </a:solidFill>
          <a:ln w="12700">
            <a:solidFill>
              <a:srgbClr val="4A2338"/>
            </a:solidFill>
            <a:prstDash val="solid"/>
          </a:ln>
        </p:spPr>
        <p:txBody>
          <a:bodyPr/>
          <a:lstStyle/>
          <a:p>
            <a:endParaRPr lang="en-IN"/>
          </a:p>
        </p:txBody>
      </p:sp>
      <p:sp>
        <p:nvSpPr>
          <p:cNvPr id="17" name="Text 15"/>
          <p:cNvSpPr/>
          <p:nvPr/>
        </p:nvSpPr>
        <p:spPr>
          <a:xfrm>
            <a:off x="7409160" y="1866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A6C1"/>
          </a:solidFill>
          <a:ln/>
        </p:spPr>
        <p:txBody>
          <a:bodyPr wrap="square" lIns="0" tIns="0" rIns="0" bIns="0" rtlCol="0" anchor="t">
            <a:normAutofit/>
          </a:bodyPr>
          <a:lstStyle/>
          <a:p>
            <a:pPr marL="0" indent="0" algn="ctr">
              <a:lnSpc>
                <a:spcPts val="2800"/>
              </a:lnSpc>
              <a:buNone/>
            </a:pPr>
            <a:r>
              <a:rPr lang="en-US" sz="1400" b="1" dirty="0">
                <a:solidFill>
                  <a:srgbClr val="1F0A16"/>
                </a:solidFill>
                <a:latin typeface="Arial" pitchFamily="34" charset="0"/>
                <a:ea typeface="Arial" pitchFamily="34" charset="-122"/>
                <a:cs typeface="Arial" pitchFamily="34" charset="-120"/>
              </a:rPr>
              <a:t>4</a:t>
            </a:r>
            <a:endParaRPr lang="en-US" sz="1400" dirty="0"/>
          </a:p>
        </p:txBody>
      </p:sp>
      <p:sp>
        <p:nvSpPr>
          <p:cNvPr id="18" name="Text 16"/>
          <p:cNvSpPr/>
          <p:nvPr/>
        </p:nvSpPr>
        <p:spPr>
          <a:xfrm>
            <a:off x="7409160" y="2324001"/>
            <a:ext cx="171202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1F5"/>
                </a:solidFill>
                <a:latin typeface="Arial" pitchFamily="34" charset="0"/>
                <a:ea typeface="Arial" pitchFamily="34" charset="-122"/>
                <a:cs typeface="Arial" pitchFamily="34" charset="-120"/>
              </a:rPr>
              <a:t>Power BI Modeling</a:t>
            </a:r>
            <a:endParaRPr lang="en-US" sz="1500" dirty="0"/>
          </a:p>
        </p:txBody>
      </p:sp>
      <p:sp>
        <p:nvSpPr>
          <p:cNvPr id="19" name="Text 17"/>
          <p:cNvSpPr/>
          <p:nvPr/>
        </p:nvSpPr>
        <p:spPr>
          <a:xfrm>
            <a:off x="7409160" y="2882801"/>
            <a:ext cx="171202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The cleaned CSV was loaded into Power BI and price bands, levels and measures were created.</a:t>
            </a:r>
            <a:endParaRPr lang="en-US" sz="1200" dirty="0"/>
          </a:p>
        </p:txBody>
      </p:sp>
      <p:sp>
        <p:nvSpPr>
          <p:cNvPr id="20" name="Shape 18"/>
          <p:cNvSpPr/>
          <p:nvPr/>
        </p:nvSpPr>
        <p:spPr>
          <a:xfrm>
            <a:off x="9394230" y="1682651"/>
            <a:ext cx="1978620" cy="2450902"/>
          </a:xfrm>
          <a:prstGeom prst="roundRect">
            <a:avLst>
              <a:gd name="adj" fmla="val 4814"/>
            </a:avLst>
          </a:prstGeom>
          <a:solidFill>
            <a:srgbClr val="2E1423"/>
          </a:solidFill>
          <a:ln w="12700">
            <a:solidFill>
              <a:srgbClr val="FF4F81"/>
            </a:solidFill>
            <a:prstDash val="solid"/>
          </a:ln>
        </p:spPr>
        <p:txBody>
          <a:bodyPr/>
          <a:lstStyle/>
          <a:p>
            <a:endParaRPr lang="en-IN"/>
          </a:p>
        </p:txBody>
      </p:sp>
      <p:sp>
        <p:nvSpPr>
          <p:cNvPr id="21" name="Text 19"/>
          <p:cNvSpPr/>
          <p:nvPr/>
        </p:nvSpPr>
        <p:spPr>
          <a:xfrm>
            <a:off x="9552980" y="1866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4F81"/>
          </a:solidFill>
          <a:ln/>
        </p:spPr>
        <p:txBody>
          <a:bodyPr wrap="square" lIns="0" tIns="0" rIns="0" bIns="0" rtlCol="0" anchor="t">
            <a:normAutofit/>
          </a:bodyPr>
          <a:lstStyle/>
          <a:p>
            <a:pPr marL="0" indent="0" algn="ctr">
              <a:lnSpc>
                <a:spcPts val="2800"/>
              </a:lnSpc>
              <a:buNone/>
            </a:pPr>
            <a:r>
              <a:rPr lang="en-US" sz="1400" b="1" dirty="0">
                <a:solidFill>
                  <a:srgbClr val="1F0A16"/>
                </a:solidFill>
                <a:latin typeface="Arial" pitchFamily="34" charset="0"/>
                <a:ea typeface="Arial" pitchFamily="34" charset="-122"/>
                <a:cs typeface="Arial" pitchFamily="34" charset="-120"/>
              </a:rPr>
              <a:t>5</a:t>
            </a:r>
            <a:endParaRPr lang="en-US" sz="1400" dirty="0"/>
          </a:p>
        </p:txBody>
      </p:sp>
      <p:sp>
        <p:nvSpPr>
          <p:cNvPr id="22" name="Text 20"/>
          <p:cNvSpPr/>
          <p:nvPr/>
        </p:nvSpPr>
        <p:spPr>
          <a:xfrm>
            <a:off x="9552980" y="2324001"/>
            <a:ext cx="171192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1F5"/>
                </a:solidFill>
                <a:latin typeface="Arial" pitchFamily="34" charset="0"/>
                <a:ea typeface="Arial" pitchFamily="34" charset="-122"/>
                <a:cs typeface="Arial" pitchFamily="34" charset="-120"/>
              </a:rPr>
              <a:t>Dashboard &amp; Insights</a:t>
            </a:r>
            <a:endParaRPr lang="en-US" sz="1500" dirty="0"/>
          </a:p>
        </p:txBody>
      </p:sp>
      <p:sp>
        <p:nvSpPr>
          <p:cNvPr id="23" name="Text 21"/>
          <p:cNvSpPr/>
          <p:nvPr/>
        </p:nvSpPr>
        <p:spPr>
          <a:xfrm>
            <a:off x="9552980" y="2882801"/>
            <a:ext cx="171192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Four report pages with slicers answer pricing, brand and rating questions.</a:t>
            </a:r>
            <a:endParaRPr lang="en-US" sz="1200" dirty="0"/>
          </a:p>
        </p:txBody>
      </p:sp>
      <p:sp>
        <p:nvSpPr>
          <p:cNvPr id="24" name="Shape 22"/>
          <p:cNvSpPr/>
          <p:nvPr/>
        </p:nvSpPr>
        <p:spPr>
          <a:xfrm>
            <a:off x="819150" y="4349452"/>
            <a:ext cx="10553700" cy="497780"/>
          </a:xfrm>
          <a:prstGeom prst="roundRect">
            <a:avLst>
              <a:gd name="adj" fmla="val 16584"/>
            </a:avLst>
          </a:prstGeom>
          <a:solidFill>
            <a:srgbClr val="2E1423"/>
          </a:solidFill>
          <a:ln w="12700">
            <a:solidFill>
              <a:srgbClr val="4A2338"/>
            </a:solidFill>
            <a:prstDash val="solid"/>
          </a:ln>
        </p:spPr>
        <p:txBody>
          <a:bodyPr/>
          <a:lstStyle/>
          <a:p>
            <a:endParaRPr lang="en-IN"/>
          </a:p>
        </p:txBody>
      </p:sp>
      <p:sp>
        <p:nvSpPr>
          <p:cNvPr id="25" name="Text 23"/>
          <p:cNvSpPr/>
          <p:nvPr/>
        </p:nvSpPr>
        <p:spPr>
          <a:xfrm>
            <a:off x="1003300" y="4482802"/>
            <a:ext cx="101580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A6C1"/>
                </a:solidFill>
                <a:latin typeface="Arial" pitchFamily="34" charset="0"/>
                <a:ea typeface="Arial" pitchFamily="34" charset="-122"/>
                <a:cs typeface="Arial" pitchFamily="34" charset="-120"/>
              </a:rPr>
              <a:t>Tools used:</a:t>
            </a:r>
            <a:endParaRPr lang="en-US" sz="1300" dirty="0"/>
          </a:p>
        </p:txBody>
      </p:sp>
      <p:sp>
        <p:nvSpPr>
          <p:cNvPr id="26" name="Text 24"/>
          <p:cNvSpPr/>
          <p:nvPr/>
        </p:nvSpPr>
        <p:spPr>
          <a:xfrm>
            <a:off x="2019102" y="4482802"/>
            <a:ext cx="527708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F1F5"/>
                </a:solidFill>
                <a:latin typeface="Arial" pitchFamily="34" charset="0"/>
                <a:ea typeface="Arial" pitchFamily="34" charset="-122"/>
                <a:cs typeface="Arial" pitchFamily="34" charset="-120"/>
              </a:rPr>
              <a:t>Python • Playwright • Pandas • Jupyter Notebook • Power BI</a:t>
            </a:r>
            <a:endParaRPr lang="en-US" sz="1300" dirty="0"/>
          </a:p>
        </p:txBody>
      </p:sp>
      <p:sp>
        <p:nvSpPr>
          <p:cNvPr id="27" name="Text 2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8598"/>
                </a:solidFill>
                <a:latin typeface="Arial" pitchFamily="34" charset="0"/>
                <a:ea typeface="Arial" pitchFamily="34" charset="-122"/>
                <a:cs typeface="Arial" pitchFamily="34" charset="-120"/>
              </a:rPr>
              <a:t>Myntra Beauty Analytics | Power BI Project</a:t>
            </a:r>
            <a:endParaRPr lang="en-US" sz="1200" dirty="0"/>
          </a:p>
        </p:txBody>
      </p:sp>
      <p:sp>
        <p:nvSpPr>
          <p:cNvPr id="28" name="Text 2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08598"/>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0A16"/>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6240"/>
          </a:xfrm>
          <a:prstGeom prst="rect">
            <a:avLst/>
          </a:prstGeom>
          <a:noFill/>
          <a:ln/>
        </p:spPr>
        <p:txBody>
          <a:bodyPr wrap="square" lIns="0" tIns="0" rIns="0" bIns="0" rtlCol="0" anchor="t">
            <a:normAutofit/>
          </a:bodyPr>
          <a:lstStyle/>
          <a:p>
            <a:pPr marL="0" indent="0" algn="l">
              <a:lnSpc>
                <a:spcPts val="1675"/>
              </a:lnSpc>
              <a:buNone/>
            </a:pPr>
            <a:r>
              <a:rPr lang="en-US" sz="1196" b="1" kern="0" spc="250" dirty="0">
                <a:solidFill>
                  <a:srgbClr val="FFA6C1"/>
                </a:solidFill>
                <a:latin typeface="Arial" pitchFamily="34" charset="0"/>
                <a:ea typeface="Arial" pitchFamily="34" charset="-122"/>
                <a:cs typeface="Arial" pitchFamily="34" charset="-120"/>
              </a:rPr>
              <a:t>THE DATA</a:t>
            </a:r>
            <a:endParaRPr lang="en-US" sz="1196" dirty="0"/>
          </a:p>
        </p:txBody>
      </p:sp>
      <p:sp>
        <p:nvSpPr>
          <p:cNvPr id="3" name="Text 1"/>
          <p:cNvSpPr>
            <a:spLocks noGrp="1"/>
          </p:cNvSpPr>
          <p:nvPr>
            <p:ph type="title"/>
          </p:nvPr>
        </p:nvSpPr>
        <p:spPr>
          <a:xfrm>
            <a:off x="812800" y="972840"/>
            <a:ext cx="10883392" cy="467122"/>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4F81"/>
                </a:solidFill>
                <a:latin typeface="Arial" pitchFamily="34" charset="0"/>
                <a:ea typeface="Arial" pitchFamily="34" charset="-122"/>
                <a:cs typeface="Arial" pitchFamily="34" charset="-120"/>
              </a:rPr>
              <a:t>Dataset Overview</a:t>
            </a:r>
            <a:endParaRPr lang="en-US" sz="3200" dirty="0"/>
          </a:p>
        </p:txBody>
      </p:sp>
      <p:sp>
        <p:nvSpPr>
          <p:cNvPr id="4" name="Shape 2"/>
          <p:cNvSpPr/>
          <p:nvPr/>
        </p:nvSpPr>
        <p:spPr>
          <a:xfrm>
            <a:off x="819150" y="1573312"/>
            <a:ext cx="1601093" cy="740370"/>
          </a:xfrm>
          <a:prstGeom prst="roundRect">
            <a:avLst>
              <a:gd name="adj" fmla="val 11150"/>
            </a:avLst>
          </a:prstGeom>
          <a:solidFill>
            <a:srgbClr val="2E1423"/>
          </a:solidFill>
          <a:ln w="12700">
            <a:solidFill>
              <a:srgbClr val="4A2338"/>
            </a:solidFill>
            <a:prstDash val="solid"/>
          </a:ln>
        </p:spPr>
        <p:txBody>
          <a:bodyPr/>
          <a:lstStyle/>
          <a:p>
            <a:endParaRPr lang="en-IN"/>
          </a:p>
        </p:txBody>
      </p:sp>
      <p:sp>
        <p:nvSpPr>
          <p:cNvPr id="5" name="Text 3"/>
          <p:cNvSpPr/>
          <p:nvPr/>
        </p:nvSpPr>
        <p:spPr>
          <a:xfrm>
            <a:off x="1028700" y="1681262"/>
            <a:ext cx="1232793" cy="327422"/>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FF4F81"/>
                </a:solidFill>
                <a:latin typeface="Arial" pitchFamily="34" charset="0"/>
                <a:ea typeface="Arial" pitchFamily="34" charset="-122"/>
                <a:cs typeface="Arial" pitchFamily="34" charset="-120"/>
              </a:rPr>
              <a:t>18,908</a:t>
            </a:r>
            <a:endParaRPr lang="en-US" sz="2200" dirty="0"/>
          </a:p>
        </p:txBody>
      </p:sp>
      <p:sp>
        <p:nvSpPr>
          <p:cNvPr id="6" name="Text 4"/>
          <p:cNvSpPr/>
          <p:nvPr/>
        </p:nvSpPr>
        <p:spPr>
          <a:xfrm>
            <a:off x="1028700" y="1995984"/>
            <a:ext cx="1385193" cy="235148"/>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D9A9BA"/>
                </a:solidFill>
                <a:latin typeface="Arial" pitchFamily="34" charset="0"/>
                <a:ea typeface="Arial" pitchFamily="34" charset="-122"/>
                <a:cs typeface="Arial" pitchFamily="34" charset="-120"/>
              </a:rPr>
              <a:t>Products scraped</a:t>
            </a:r>
            <a:endParaRPr lang="en-US" sz="1196" dirty="0"/>
          </a:p>
        </p:txBody>
      </p:sp>
      <p:sp>
        <p:nvSpPr>
          <p:cNvPr id="7" name="Shape 5"/>
          <p:cNvSpPr/>
          <p:nvPr/>
        </p:nvSpPr>
        <p:spPr>
          <a:xfrm>
            <a:off x="2585343" y="1573312"/>
            <a:ext cx="2205236" cy="740370"/>
          </a:xfrm>
          <a:prstGeom prst="roundRect">
            <a:avLst>
              <a:gd name="adj" fmla="val 11150"/>
            </a:avLst>
          </a:prstGeom>
          <a:solidFill>
            <a:srgbClr val="2E1423"/>
          </a:solidFill>
          <a:ln w="12700">
            <a:solidFill>
              <a:srgbClr val="4A2338"/>
            </a:solidFill>
            <a:prstDash val="solid"/>
          </a:ln>
        </p:spPr>
        <p:txBody>
          <a:bodyPr/>
          <a:lstStyle/>
          <a:p>
            <a:endParaRPr lang="en-IN"/>
          </a:p>
        </p:txBody>
      </p:sp>
      <p:sp>
        <p:nvSpPr>
          <p:cNvPr id="8" name="Text 6"/>
          <p:cNvSpPr/>
          <p:nvPr/>
        </p:nvSpPr>
        <p:spPr>
          <a:xfrm>
            <a:off x="2794893" y="1681262"/>
            <a:ext cx="1989336" cy="327422"/>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FFA6C1"/>
                </a:solidFill>
                <a:latin typeface="Arial" pitchFamily="34" charset="0"/>
                <a:ea typeface="Arial" pitchFamily="34" charset="-122"/>
                <a:cs typeface="Arial" pitchFamily="34" charset="-120"/>
              </a:rPr>
              <a:t>41 categories</a:t>
            </a:r>
            <a:endParaRPr lang="en-US" sz="2200" dirty="0"/>
          </a:p>
        </p:txBody>
      </p:sp>
      <p:sp>
        <p:nvSpPr>
          <p:cNvPr id="9" name="Text 7"/>
          <p:cNvSpPr/>
          <p:nvPr/>
        </p:nvSpPr>
        <p:spPr>
          <a:xfrm>
            <a:off x="2794893" y="1995984"/>
            <a:ext cx="1839720" cy="235148"/>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D9A9BA"/>
                </a:solidFill>
                <a:latin typeface="Arial" pitchFamily="34" charset="0"/>
                <a:ea typeface="Arial" pitchFamily="34" charset="-122"/>
                <a:cs typeface="Arial" pitchFamily="34" charset="-120"/>
              </a:rPr>
              <a:t>Lipstick to sunscreen</a:t>
            </a:r>
            <a:endParaRPr lang="en-US" sz="1196" dirty="0"/>
          </a:p>
        </p:txBody>
      </p:sp>
      <p:sp>
        <p:nvSpPr>
          <p:cNvPr id="10" name="Shape 8"/>
          <p:cNvSpPr/>
          <p:nvPr/>
        </p:nvSpPr>
        <p:spPr>
          <a:xfrm>
            <a:off x="4955679" y="1573312"/>
            <a:ext cx="2127448" cy="740370"/>
          </a:xfrm>
          <a:prstGeom prst="roundRect">
            <a:avLst>
              <a:gd name="adj" fmla="val 11150"/>
            </a:avLst>
          </a:prstGeom>
          <a:solidFill>
            <a:srgbClr val="2E1423"/>
          </a:solidFill>
          <a:ln w="12700">
            <a:solidFill>
              <a:srgbClr val="4A2338"/>
            </a:solidFill>
            <a:prstDash val="solid"/>
          </a:ln>
        </p:spPr>
        <p:txBody>
          <a:bodyPr/>
          <a:lstStyle/>
          <a:p>
            <a:endParaRPr lang="en-IN"/>
          </a:p>
        </p:txBody>
      </p:sp>
      <p:sp>
        <p:nvSpPr>
          <p:cNvPr id="11" name="Text 9"/>
          <p:cNvSpPr/>
          <p:nvPr/>
        </p:nvSpPr>
        <p:spPr>
          <a:xfrm>
            <a:off x="5165229" y="1681262"/>
            <a:ext cx="1911548" cy="327422"/>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FFA6C1"/>
                </a:solidFill>
                <a:latin typeface="Arial" pitchFamily="34" charset="0"/>
                <a:ea typeface="Arial" pitchFamily="34" charset="-122"/>
                <a:cs typeface="Arial" pitchFamily="34" charset="-120"/>
              </a:rPr>
              <a:t>1,701 brands</a:t>
            </a:r>
            <a:endParaRPr lang="en-US" sz="2200" dirty="0"/>
          </a:p>
        </p:txBody>
      </p:sp>
      <p:sp>
        <p:nvSpPr>
          <p:cNvPr id="12" name="Text 10"/>
          <p:cNvSpPr/>
          <p:nvPr/>
        </p:nvSpPr>
        <p:spPr>
          <a:xfrm>
            <a:off x="5165229" y="1995984"/>
            <a:ext cx="1759599" cy="235148"/>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D9A9BA"/>
                </a:solidFill>
                <a:latin typeface="Arial" pitchFamily="34" charset="0"/>
                <a:ea typeface="Arial" pitchFamily="34" charset="-122"/>
                <a:cs typeface="Arial" pitchFamily="34" charset="-120"/>
              </a:rPr>
              <a:t>Distinct sellers</a:t>
            </a:r>
            <a:endParaRPr lang="en-US" sz="1196" dirty="0"/>
          </a:p>
        </p:txBody>
      </p:sp>
      <p:sp>
        <p:nvSpPr>
          <p:cNvPr id="13" name="Text 11"/>
          <p:cNvSpPr/>
          <p:nvPr/>
        </p:nvSpPr>
        <p:spPr>
          <a:xfrm>
            <a:off x="812800" y="2472432"/>
            <a:ext cx="10883392" cy="271363"/>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1F5"/>
                </a:solidFill>
                <a:latin typeface="Arial" pitchFamily="34" charset="0"/>
                <a:ea typeface="Arial" pitchFamily="34" charset="-122"/>
                <a:cs typeface="Arial" pitchFamily="34" charset="-120"/>
              </a:rPr>
              <a:t>Attributes:</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5500" y="2883495"/>
          <a:ext cx="10553700" cy="2958507"/>
        </p:xfrm>
        <a:graphic>
          <a:graphicData uri="http://schemas.openxmlformats.org/drawingml/2006/table">
            <a:tbl>
              <a:tblPr/>
              <a:tblGrid>
                <a:gridCol w="2321814">
                  <a:extLst>
                    <a:ext uri="{9D8B030D-6E8A-4147-A177-3AD203B41FA5}">
                      <a16:colId xmlns:a16="http://schemas.microsoft.com/office/drawing/2014/main" val="20000"/>
                    </a:ext>
                  </a:extLst>
                </a:gridCol>
                <a:gridCol w="6121146">
                  <a:extLst>
                    <a:ext uri="{9D8B030D-6E8A-4147-A177-3AD203B41FA5}">
                      <a16:colId xmlns:a16="http://schemas.microsoft.com/office/drawing/2014/main" val="20001"/>
                    </a:ext>
                  </a:extLst>
                </a:gridCol>
                <a:gridCol w="2110740">
                  <a:extLst>
                    <a:ext uri="{9D8B030D-6E8A-4147-A177-3AD203B41FA5}">
                      <a16:colId xmlns:a16="http://schemas.microsoft.com/office/drawing/2014/main" val="20002"/>
                    </a:ext>
                  </a:extLst>
                </a:gridCol>
              </a:tblGrid>
              <a:tr h="328712">
                <a:tc>
                  <a:txBody>
                    <a:bodyPr/>
                    <a:lstStyle/>
                    <a:p>
                      <a:pPr marL="0" indent="0">
                        <a:lnSpc>
                          <a:spcPts val="1659"/>
                        </a:lnSpc>
                        <a:buNone/>
                      </a:pPr>
                      <a:r>
                        <a:rPr lang="en-US" sz="1185" b="1" dirty="0">
                          <a:solidFill>
                            <a:srgbClr val="1F0A16"/>
                          </a:solidFill>
                          <a:latin typeface="Arial" pitchFamily="34" charset="0"/>
                          <a:ea typeface="Arial" pitchFamily="34" charset="-122"/>
                          <a:cs typeface="Arial" pitchFamily="34" charset="-120"/>
                        </a:rPr>
                        <a:t>Field</a:t>
                      </a:r>
                      <a:endParaRPr lang="en-US" sz="1185" dirty="0">
                        <a:latin typeface="Arial" charset="0"/>
                        <a:ea typeface="Arial" charset="0"/>
                        <a:cs typeface="Arial" charset="0"/>
                      </a:endParaRPr>
                    </a:p>
                  </a:txBody>
                  <a:tcPr marL="52673" marR="52673" marT="52673" marB="52673">
                    <a:lnL w="12700" cap="flat" cmpd="sng" algn="ctr">
                      <a:solidFill>
                        <a:srgbClr val="4F3F47"/>
                      </a:solidFill>
                      <a:prstDash val="solid"/>
                      <a:round/>
                      <a:headEnd type="none" w="med" len="med"/>
                      <a:tailEnd type="none" w="med" len="med"/>
                    </a:lnL>
                    <a:lnR w="12700" cap="flat" cmpd="sng" algn="ctr">
                      <a:solidFill>
                        <a:srgbClr val="FE749B"/>
                      </a:solidFill>
                      <a:prstDash val="solid"/>
                      <a:round/>
                      <a:headEnd type="none" w="med" len="med"/>
                      <a:tailEnd type="none" w="med" len="med"/>
                    </a:lnR>
                    <a:lnT w="12700" cap="flat" cmpd="sng" algn="ctr">
                      <a:solidFill>
                        <a:srgbClr val="4F3F47"/>
                      </a:solidFill>
                      <a:prstDash val="solid"/>
                      <a:round/>
                      <a:headEnd type="none" w="med" len="med"/>
                      <a:tailEnd type="none" w="med" len="med"/>
                    </a:lnT>
                    <a:lnB w="12700" cap="flat" cmpd="sng" algn="ctr">
                      <a:solidFill>
                        <a:srgbClr val="FE749B"/>
                      </a:solidFill>
                      <a:prstDash val="solid"/>
                      <a:round/>
                      <a:headEnd type="none" w="med" len="med"/>
                      <a:tailEnd type="none" w="med" len="med"/>
                    </a:lnB>
                    <a:solidFill>
                      <a:srgbClr val="FF4F81"/>
                    </a:solidFill>
                  </a:tcPr>
                </a:tc>
                <a:tc>
                  <a:txBody>
                    <a:bodyPr/>
                    <a:lstStyle/>
                    <a:p>
                      <a:pPr marL="0" indent="0">
                        <a:lnSpc>
                          <a:spcPts val="1659"/>
                        </a:lnSpc>
                        <a:buNone/>
                      </a:pPr>
                      <a:r>
                        <a:rPr lang="en-US" sz="1185" b="1" dirty="0">
                          <a:solidFill>
                            <a:srgbClr val="1F0A16"/>
                          </a:solidFill>
                          <a:latin typeface="Arial" pitchFamily="34" charset="0"/>
                          <a:ea typeface="Arial" pitchFamily="34" charset="-122"/>
                          <a:cs typeface="Arial" pitchFamily="34" charset="-120"/>
                        </a:rPr>
                        <a:t>Description</a:t>
                      </a:r>
                      <a:endParaRPr lang="en-US" sz="1185" dirty="0">
                        <a:latin typeface="Arial" charset="0"/>
                        <a:ea typeface="Arial" charset="0"/>
                        <a:cs typeface="Arial" charset="0"/>
                      </a:endParaRPr>
                    </a:p>
                  </a:txBody>
                  <a:tcPr marL="52673" marR="52673" marT="52673" marB="52673">
                    <a:lnL w="12700" cap="flat" cmpd="sng" algn="ctr">
                      <a:solidFill>
                        <a:srgbClr val="FE749B"/>
                      </a:solidFill>
                      <a:prstDash val="solid"/>
                      <a:round/>
                      <a:headEnd type="none" w="med" len="med"/>
                      <a:tailEnd type="none" w="med" len="med"/>
                    </a:lnL>
                    <a:lnR w="12700" cap="flat" cmpd="sng" algn="ctr">
                      <a:solidFill>
                        <a:srgbClr val="FE749B"/>
                      </a:solidFill>
                      <a:prstDash val="solid"/>
                      <a:round/>
                      <a:headEnd type="none" w="med" len="med"/>
                      <a:tailEnd type="none" w="med" len="med"/>
                    </a:lnR>
                    <a:lnT w="12700" cap="flat" cmpd="sng" algn="ctr">
                      <a:solidFill>
                        <a:srgbClr val="4F3F47"/>
                      </a:solidFill>
                      <a:prstDash val="solid"/>
                      <a:round/>
                      <a:headEnd type="none" w="med" len="med"/>
                      <a:tailEnd type="none" w="med" len="med"/>
                    </a:lnT>
                    <a:lnB w="12700" cap="flat" cmpd="sng" algn="ctr">
                      <a:solidFill>
                        <a:srgbClr val="FE749B"/>
                      </a:solidFill>
                      <a:prstDash val="solid"/>
                      <a:round/>
                      <a:headEnd type="none" w="med" len="med"/>
                      <a:tailEnd type="none" w="med" len="med"/>
                    </a:lnB>
                    <a:solidFill>
                      <a:srgbClr val="FF4F81"/>
                    </a:solidFill>
                  </a:tcPr>
                </a:tc>
                <a:tc>
                  <a:txBody>
                    <a:bodyPr/>
                    <a:lstStyle/>
                    <a:p>
                      <a:pPr marL="0" indent="0" algn="r">
                        <a:lnSpc>
                          <a:spcPts val="1659"/>
                        </a:lnSpc>
                        <a:buNone/>
                      </a:pPr>
                      <a:r>
                        <a:rPr lang="en-US" sz="1185" b="1" dirty="0">
                          <a:solidFill>
                            <a:srgbClr val="1F0A16"/>
                          </a:solidFill>
                          <a:latin typeface="Arial" pitchFamily="34" charset="0"/>
                          <a:ea typeface="Arial" pitchFamily="34" charset="-122"/>
                          <a:cs typeface="Arial" pitchFamily="34" charset="-120"/>
                        </a:rPr>
                        <a:t>Type</a:t>
                      </a:r>
                      <a:endParaRPr lang="en-US" sz="1185" dirty="0">
                        <a:latin typeface="Arial" charset="0"/>
                        <a:ea typeface="Arial" charset="0"/>
                        <a:cs typeface="Arial" charset="0"/>
                      </a:endParaRPr>
                    </a:p>
                  </a:txBody>
                  <a:tcPr marL="52673" marR="52673" marT="52673" marB="52673">
                    <a:lnL w="12700" cap="flat" cmpd="sng" algn="ctr">
                      <a:solidFill>
                        <a:srgbClr val="FE749B"/>
                      </a:solidFill>
                      <a:prstDash val="solid"/>
                      <a:round/>
                      <a:headEnd type="none" w="med" len="med"/>
                      <a:tailEnd type="none" w="med" len="med"/>
                    </a:lnL>
                    <a:lnR w="12700" cap="flat" cmpd="sng" algn="ctr">
                      <a:solidFill>
                        <a:srgbClr val="FE749B"/>
                      </a:solidFill>
                      <a:prstDash val="solid"/>
                      <a:round/>
                      <a:headEnd type="none" w="med" len="med"/>
                      <a:tailEnd type="none" w="med" len="med"/>
                    </a:lnR>
                    <a:lnT w="12700" cap="flat" cmpd="sng" algn="ctr">
                      <a:solidFill>
                        <a:srgbClr val="4F3F47"/>
                      </a:solidFill>
                      <a:prstDash val="solid"/>
                      <a:round/>
                      <a:headEnd type="none" w="med" len="med"/>
                      <a:tailEnd type="none" w="med" len="med"/>
                    </a:lnT>
                    <a:lnB w="12700" cap="flat" cmpd="sng" algn="ctr">
                      <a:solidFill>
                        <a:srgbClr val="FE749B"/>
                      </a:solidFill>
                      <a:prstDash val="solid"/>
                      <a:round/>
                      <a:headEnd type="none" w="med" len="med"/>
                      <a:tailEnd type="none" w="med" len="med"/>
                    </a:lnB>
                    <a:solidFill>
                      <a:srgbClr val="FF4F81"/>
                    </a:solidFill>
                  </a:tcPr>
                </a:tc>
                <a:extLst>
                  <a:ext uri="{0D108BD9-81ED-4DB2-BD59-A6C34878D82A}">
                    <a16:rowId xmlns:a16="http://schemas.microsoft.com/office/drawing/2014/main" val="10000"/>
                  </a:ext>
                </a:extLst>
              </a:tr>
              <a:tr h="328712">
                <a:tc>
                  <a:txBody>
                    <a:bodyPr/>
                    <a:lstStyle/>
                    <a:p>
                      <a:pPr marL="0" indent="0">
                        <a:lnSpc>
                          <a:spcPts val="1659"/>
                        </a:lnSpc>
                        <a:buNone/>
                      </a:pPr>
                      <a:r>
                        <a:rPr lang="en-US" sz="1185" dirty="0">
                          <a:solidFill>
                            <a:srgbClr val="FF4F81"/>
                          </a:solidFill>
                          <a:latin typeface="Arial" pitchFamily="34" charset="0"/>
                          <a:ea typeface="Arial" pitchFamily="34" charset="-122"/>
                          <a:cs typeface="Arial" pitchFamily="34" charset="-120"/>
                        </a:rPr>
                        <a:t>category</a:t>
                      </a:r>
                      <a:endParaRPr lang="en-US" sz="1185" dirty="0">
                        <a:latin typeface="Arial" charset="0"/>
                        <a:ea typeface="Arial" charset="0"/>
                        <a:cs typeface="Arial" charset="0"/>
                      </a:endParaRPr>
                    </a:p>
                  </a:txBody>
                  <a:tcPr marL="52673" marR="52673" marT="52673" marB="52673">
                    <a:lnL w="12700" cap="flat" cmpd="sng" algn="ctr">
                      <a:solidFill>
                        <a:srgbClr val="4F3F47"/>
                      </a:solidFill>
                      <a:prstDash val="solid"/>
                      <a:round/>
                      <a:headEnd type="none" w="med" len="med"/>
                      <a:tailEnd type="none" w="med" len="med"/>
                    </a:lnL>
                    <a:lnR w="12700" cap="flat" cmpd="sng" algn="ctr">
                      <a:solidFill>
                        <a:srgbClr val="5B4651"/>
                      </a:solidFill>
                      <a:prstDash val="solid"/>
                      <a:round/>
                      <a:headEnd type="none" w="med" len="med"/>
                      <a:tailEnd type="none" w="med" len="med"/>
                    </a:lnR>
                    <a:lnT w="12700" cap="flat" cmpd="sng" algn="ctr">
                      <a:solidFill>
                        <a:srgbClr val="FE749B"/>
                      </a:solidFill>
                      <a:prstDash val="solid"/>
                      <a:round/>
                      <a:headEnd type="none" w="med" len="med"/>
                      <a:tailEnd type="none" w="med" len="med"/>
                    </a:lnT>
                    <a:lnB w="12700" cap="flat" cmpd="sng" algn="ctr">
                      <a:solidFill>
                        <a:srgbClr val="5B4651"/>
                      </a:solidFill>
                      <a:prstDash val="solid"/>
                      <a:round/>
                      <a:headEnd type="none" w="med" len="med"/>
                      <a:tailEnd type="none" w="med" len="med"/>
                    </a:lnB>
                    <a:solidFill>
                      <a:srgbClr val="2E1423"/>
                    </a:solidFill>
                  </a:tcPr>
                </a:tc>
                <a:tc>
                  <a:txBody>
                    <a:bodyPr/>
                    <a:lstStyle/>
                    <a:p>
                      <a:pPr marL="0" indent="0">
                        <a:lnSpc>
                          <a:spcPts val="1659"/>
                        </a:lnSpc>
                        <a:buNone/>
                      </a:pPr>
                      <a:r>
                        <a:rPr lang="en-US" sz="1185" dirty="0">
                          <a:solidFill>
                            <a:srgbClr val="FFF1F5"/>
                          </a:solidFill>
                          <a:latin typeface="Arial" pitchFamily="34" charset="0"/>
                          <a:ea typeface="Arial" pitchFamily="34" charset="-122"/>
                          <a:cs typeface="Arial" pitchFamily="34" charset="-120"/>
                        </a:rPr>
                        <a:t>Search category, e.g. lipstick, face serum</a:t>
                      </a:r>
                      <a:endParaRPr lang="en-US" sz="1185" dirty="0">
                        <a:latin typeface="Arial" charset="0"/>
                        <a:ea typeface="Arial" charset="0"/>
                        <a:cs typeface="Arial" charset="0"/>
                      </a:endParaRPr>
                    </a:p>
                  </a:txBody>
                  <a:tcPr marL="52673" marR="52673" marT="52673" marB="52673">
                    <a:lnL w="12700" cap="flat" cmpd="sng" algn="ctr">
                      <a:solidFill>
                        <a:srgbClr val="5B4651"/>
                      </a:solidFill>
                      <a:prstDash val="solid"/>
                      <a:round/>
                      <a:headEnd type="none" w="med" len="med"/>
                      <a:tailEnd type="none" w="med" len="med"/>
                    </a:lnL>
                    <a:lnR w="12700" cap="flat" cmpd="sng" algn="ctr">
                      <a:solidFill>
                        <a:srgbClr val="5B4651"/>
                      </a:solidFill>
                      <a:prstDash val="solid"/>
                      <a:round/>
                      <a:headEnd type="none" w="med" len="med"/>
                      <a:tailEnd type="none" w="med" len="med"/>
                    </a:lnR>
                    <a:lnT w="12700" cap="flat" cmpd="sng" algn="ctr">
                      <a:solidFill>
                        <a:srgbClr val="FE749B"/>
                      </a:solidFill>
                      <a:prstDash val="solid"/>
                      <a:round/>
                      <a:headEnd type="none" w="med" len="med"/>
                      <a:tailEnd type="none" w="med" len="med"/>
                    </a:lnT>
                    <a:lnB w="12700" cap="flat" cmpd="sng" algn="ctr">
                      <a:solidFill>
                        <a:srgbClr val="5B4651"/>
                      </a:solidFill>
                      <a:prstDash val="solid"/>
                      <a:round/>
                      <a:headEnd type="none" w="med" len="med"/>
                      <a:tailEnd type="none" w="med" len="med"/>
                    </a:lnB>
                    <a:solidFill>
                      <a:srgbClr val="2E1423"/>
                    </a:solidFill>
                  </a:tcPr>
                </a:tc>
                <a:tc>
                  <a:txBody>
                    <a:bodyPr/>
                    <a:lstStyle/>
                    <a:p>
                      <a:pPr marL="0" indent="0" algn="r">
                        <a:lnSpc>
                          <a:spcPts val="1659"/>
                        </a:lnSpc>
                        <a:buNone/>
                      </a:pPr>
                      <a:r>
                        <a:rPr lang="en-US" sz="1185" dirty="0">
                          <a:solidFill>
                            <a:srgbClr val="FFF1F5"/>
                          </a:solidFill>
                          <a:latin typeface="Arial" pitchFamily="34" charset="0"/>
                          <a:ea typeface="Arial" pitchFamily="34" charset="-122"/>
                          <a:cs typeface="Arial" pitchFamily="34" charset="-120"/>
                        </a:rPr>
                        <a:t>Text</a:t>
                      </a:r>
                      <a:endParaRPr lang="en-US" sz="1185" dirty="0">
                        <a:latin typeface="Arial" charset="0"/>
                        <a:ea typeface="Arial" charset="0"/>
                        <a:cs typeface="Arial" charset="0"/>
                      </a:endParaRPr>
                    </a:p>
                  </a:txBody>
                  <a:tcPr marL="52673" marR="52673" marT="52673" marB="52673">
                    <a:lnL w="12700" cap="flat" cmpd="sng" algn="ctr">
                      <a:solidFill>
                        <a:srgbClr val="5B4651"/>
                      </a:solidFill>
                      <a:prstDash val="solid"/>
                      <a:round/>
                      <a:headEnd type="none" w="med" len="med"/>
                      <a:tailEnd type="none" w="med" len="med"/>
                    </a:lnL>
                    <a:lnR w="12700" cap="flat" cmpd="sng" algn="ctr">
                      <a:solidFill>
                        <a:srgbClr val="5B4651"/>
                      </a:solidFill>
                      <a:prstDash val="solid"/>
                      <a:round/>
                      <a:headEnd type="none" w="med" len="med"/>
                      <a:tailEnd type="none" w="med" len="med"/>
                    </a:lnR>
                    <a:lnT w="12700" cap="flat" cmpd="sng" algn="ctr">
                      <a:solidFill>
                        <a:srgbClr val="FE749B"/>
                      </a:solidFill>
                      <a:prstDash val="solid"/>
                      <a:round/>
                      <a:headEnd type="none" w="med" len="med"/>
                      <a:tailEnd type="none" w="med" len="med"/>
                    </a:lnT>
                    <a:lnB w="12700" cap="flat" cmpd="sng" algn="ctr">
                      <a:solidFill>
                        <a:srgbClr val="5B4651"/>
                      </a:solidFill>
                      <a:prstDash val="solid"/>
                      <a:round/>
                      <a:headEnd type="none" w="med" len="med"/>
                      <a:tailEnd type="none" w="med" len="med"/>
                    </a:lnB>
                    <a:solidFill>
                      <a:srgbClr val="2E1423"/>
                    </a:solidFill>
                  </a:tcPr>
                </a:tc>
                <a:extLst>
                  <a:ext uri="{0D108BD9-81ED-4DB2-BD59-A6C34878D82A}">
                    <a16:rowId xmlns:a16="http://schemas.microsoft.com/office/drawing/2014/main" val="10001"/>
                  </a:ext>
                </a:extLst>
              </a:tr>
              <a:tr h="328712">
                <a:tc>
                  <a:txBody>
                    <a:bodyPr/>
                    <a:lstStyle/>
                    <a:p>
                      <a:pPr marL="0" indent="0">
                        <a:lnSpc>
                          <a:spcPts val="1659"/>
                        </a:lnSpc>
                        <a:buNone/>
                      </a:pPr>
                      <a:r>
                        <a:rPr lang="en-US" sz="1185" dirty="0">
                          <a:solidFill>
                            <a:srgbClr val="FF4F81"/>
                          </a:solidFill>
                          <a:latin typeface="Arial" pitchFamily="34" charset="0"/>
                          <a:ea typeface="Arial" pitchFamily="34" charset="-122"/>
                          <a:cs typeface="Arial" pitchFamily="34" charset="-120"/>
                        </a:rPr>
                        <a:t>name</a:t>
                      </a:r>
                      <a:endParaRPr lang="en-US" sz="1185" dirty="0">
                        <a:latin typeface="Arial" charset="0"/>
                        <a:ea typeface="Arial" charset="0"/>
                        <a:cs typeface="Arial" charset="0"/>
                      </a:endParaRPr>
                    </a:p>
                  </a:txBody>
                  <a:tcPr marL="52673" marR="52673" marT="52673" marB="52673">
                    <a:lnL w="12700" cap="flat" cmpd="sng" algn="ctr">
                      <a:solidFill>
                        <a:srgbClr val="4F3F47"/>
                      </a:solidFill>
                      <a:prstDash val="solid"/>
                      <a:round/>
                      <a:headEnd type="none" w="med" len="med"/>
                      <a:tailEnd type="none" w="med" len="med"/>
                    </a:lnL>
                    <a:lnR w="12700" cap="flat" cmpd="sng" algn="ctr">
                      <a:solidFill>
                        <a:srgbClr val="55434D"/>
                      </a:solidFill>
                      <a:prstDash val="solid"/>
                      <a:round/>
                      <a:headEnd type="none" w="med" len="med"/>
                      <a:tailEnd type="none" w="med" len="med"/>
                    </a:lnR>
                    <a:lnT w="12700" cap="flat" cmpd="sng" algn="ctr">
                      <a:solidFill>
                        <a:srgbClr val="5B4651"/>
                      </a:solidFill>
                      <a:prstDash val="solid"/>
                      <a:round/>
                      <a:headEnd type="none" w="med" len="med"/>
                      <a:tailEnd type="none" w="med" len="med"/>
                    </a:lnT>
                    <a:lnB w="12700" cap="flat" cmpd="sng" algn="ctr">
                      <a:solidFill>
                        <a:srgbClr val="55434D"/>
                      </a:solidFill>
                      <a:prstDash val="solid"/>
                      <a:round/>
                      <a:headEnd type="none" w="med" len="med"/>
                      <a:tailEnd type="none" w="med" len="med"/>
                    </a:lnB>
                    <a:solidFill>
                      <a:srgbClr val="26101D"/>
                    </a:solidFill>
                  </a:tcPr>
                </a:tc>
                <a:tc>
                  <a:txBody>
                    <a:bodyPr/>
                    <a:lstStyle/>
                    <a:p>
                      <a:pPr marL="0" indent="0">
                        <a:lnSpc>
                          <a:spcPts val="1659"/>
                        </a:lnSpc>
                        <a:buNone/>
                      </a:pPr>
                      <a:r>
                        <a:rPr lang="en-US" sz="1185" dirty="0">
                          <a:solidFill>
                            <a:srgbClr val="FFF1F5"/>
                          </a:solidFill>
                          <a:latin typeface="Arial" pitchFamily="34" charset="0"/>
                          <a:ea typeface="Arial" pitchFamily="34" charset="-122"/>
                          <a:cs typeface="Arial" pitchFamily="34" charset="-120"/>
                        </a:rPr>
                        <a:t>Product title with shade and pack size</a:t>
                      </a:r>
                      <a:endParaRPr lang="en-US" sz="1185" dirty="0">
                        <a:latin typeface="Arial" charset="0"/>
                        <a:ea typeface="Arial" charset="0"/>
                        <a:cs typeface="Arial" charset="0"/>
                      </a:endParaRPr>
                    </a:p>
                  </a:txBody>
                  <a:tcPr marL="52673" marR="52673" marT="52673" marB="52673">
                    <a:lnL w="12700" cap="flat" cmpd="sng" algn="ctr">
                      <a:solidFill>
                        <a:srgbClr val="55434D"/>
                      </a:solidFill>
                      <a:prstDash val="solid"/>
                      <a:round/>
                      <a:headEnd type="none" w="med" len="med"/>
                      <a:tailEnd type="none" w="med" len="med"/>
                    </a:lnL>
                    <a:lnR w="12700" cap="flat" cmpd="sng" algn="ctr">
                      <a:solidFill>
                        <a:srgbClr val="55434D"/>
                      </a:solidFill>
                      <a:prstDash val="solid"/>
                      <a:round/>
                      <a:headEnd type="none" w="med" len="med"/>
                      <a:tailEnd type="none" w="med" len="med"/>
                    </a:lnR>
                    <a:lnT w="12700" cap="flat" cmpd="sng" algn="ctr">
                      <a:solidFill>
                        <a:srgbClr val="5B4651"/>
                      </a:solidFill>
                      <a:prstDash val="solid"/>
                      <a:round/>
                      <a:headEnd type="none" w="med" len="med"/>
                      <a:tailEnd type="none" w="med" len="med"/>
                    </a:lnT>
                    <a:lnB w="12700" cap="flat" cmpd="sng" algn="ctr">
                      <a:solidFill>
                        <a:srgbClr val="55434D"/>
                      </a:solidFill>
                      <a:prstDash val="solid"/>
                      <a:round/>
                      <a:headEnd type="none" w="med" len="med"/>
                      <a:tailEnd type="none" w="med" len="med"/>
                    </a:lnB>
                    <a:solidFill>
                      <a:srgbClr val="26101D"/>
                    </a:solidFill>
                  </a:tcPr>
                </a:tc>
                <a:tc>
                  <a:txBody>
                    <a:bodyPr/>
                    <a:lstStyle/>
                    <a:p>
                      <a:pPr marL="0" indent="0" algn="r">
                        <a:lnSpc>
                          <a:spcPts val="1659"/>
                        </a:lnSpc>
                        <a:buNone/>
                      </a:pPr>
                      <a:r>
                        <a:rPr lang="en-US" sz="1185" dirty="0">
                          <a:solidFill>
                            <a:srgbClr val="FFF1F5"/>
                          </a:solidFill>
                          <a:latin typeface="Arial" pitchFamily="34" charset="0"/>
                          <a:ea typeface="Arial" pitchFamily="34" charset="-122"/>
                          <a:cs typeface="Arial" pitchFamily="34" charset="-120"/>
                        </a:rPr>
                        <a:t>Text</a:t>
                      </a:r>
                      <a:endParaRPr lang="en-US" sz="1185" dirty="0">
                        <a:latin typeface="Arial" charset="0"/>
                        <a:ea typeface="Arial" charset="0"/>
                        <a:cs typeface="Arial" charset="0"/>
                      </a:endParaRPr>
                    </a:p>
                  </a:txBody>
                  <a:tcPr marL="52673" marR="52673" marT="52673" marB="52673">
                    <a:lnL w="12700" cap="flat" cmpd="sng" algn="ctr">
                      <a:solidFill>
                        <a:srgbClr val="55434D"/>
                      </a:solidFill>
                      <a:prstDash val="solid"/>
                      <a:round/>
                      <a:headEnd type="none" w="med" len="med"/>
                      <a:tailEnd type="none" w="med" len="med"/>
                    </a:lnL>
                    <a:lnR w="12700" cap="flat" cmpd="sng" algn="ctr">
                      <a:solidFill>
                        <a:srgbClr val="55434D"/>
                      </a:solidFill>
                      <a:prstDash val="solid"/>
                      <a:round/>
                      <a:headEnd type="none" w="med" len="med"/>
                      <a:tailEnd type="none" w="med" len="med"/>
                    </a:lnR>
                    <a:lnT w="12700" cap="flat" cmpd="sng" algn="ctr">
                      <a:solidFill>
                        <a:srgbClr val="5B4651"/>
                      </a:solidFill>
                      <a:prstDash val="solid"/>
                      <a:round/>
                      <a:headEnd type="none" w="med" len="med"/>
                      <a:tailEnd type="none" w="med" len="med"/>
                    </a:lnT>
                    <a:lnB w="12700" cap="flat" cmpd="sng" algn="ctr">
                      <a:solidFill>
                        <a:srgbClr val="55434D"/>
                      </a:solidFill>
                      <a:prstDash val="solid"/>
                      <a:round/>
                      <a:headEnd type="none" w="med" len="med"/>
                      <a:tailEnd type="none" w="med" len="med"/>
                    </a:lnB>
                    <a:solidFill>
                      <a:srgbClr val="26101D"/>
                    </a:solidFill>
                  </a:tcPr>
                </a:tc>
                <a:extLst>
                  <a:ext uri="{0D108BD9-81ED-4DB2-BD59-A6C34878D82A}">
                    <a16:rowId xmlns:a16="http://schemas.microsoft.com/office/drawing/2014/main" val="10002"/>
                  </a:ext>
                </a:extLst>
              </a:tr>
              <a:tr h="328712">
                <a:tc>
                  <a:txBody>
                    <a:bodyPr/>
                    <a:lstStyle/>
                    <a:p>
                      <a:pPr marL="0" indent="0">
                        <a:lnSpc>
                          <a:spcPts val="1659"/>
                        </a:lnSpc>
                        <a:buNone/>
                      </a:pPr>
                      <a:r>
                        <a:rPr lang="en-US" sz="1185" dirty="0">
                          <a:solidFill>
                            <a:srgbClr val="FF4F81"/>
                          </a:solidFill>
                          <a:latin typeface="Arial" pitchFamily="34" charset="0"/>
                          <a:ea typeface="Arial" pitchFamily="34" charset="-122"/>
                          <a:cs typeface="Arial" pitchFamily="34" charset="-120"/>
                        </a:rPr>
                        <a:t>brand</a:t>
                      </a:r>
                      <a:endParaRPr lang="en-US" sz="1185" dirty="0">
                        <a:latin typeface="Arial" charset="0"/>
                        <a:ea typeface="Arial" charset="0"/>
                        <a:cs typeface="Arial" charset="0"/>
                      </a:endParaRPr>
                    </a:p>
                  </a:txBody>
                  <a:tcPr marL="52673" marR="52673" marT="52673" marB="52673">
                    <a:lnL w="12700" cap="flat" cmpd="sng" algn="ctr">
                      <a:solidFill>
                        <a:srgbClr val="4F3F47"/>
                      </a:solidFill>
                      <a:prstDash val="solid"/>
                      <a:round/>
                      <a:headEnd type="none" w="med" len="med"/>
                      <a:tailEnd type="none" w="med" len="med"/>
                    </a:lnL>
                    <a:lnR w="12700" cap="flat" cmpd="sng" algn="ctr">
                      <a:solidFill>
                        <a:srgbClr val="5B4651"/>
                      </a:solidFill>
                      <a:prstDash val="solid"/>
                      <a:round/>
                      <a:headEnd type="none" w="med" len="med"/>
                      <a:tailEnd type="none" w="med" len="med"/>
                    </a:lnR>
                    <a:lnT w="12700" cap="flat" cmpd="sng" algn="ctr">
                      <a:solidFill>
                        <a:srgbClr val="55434D"/>
                      </a:solidFill>
                      <a:prstDash val="solid"/>
                      <a:round/>
                      <a:headEnd type="none" w="med" len="med"/>
                      <a:tailEnd type="none" w="med" len="med"/>
                    </a:lnT>
                    <a:lnB w="12700" cap="flat" cmpd="sng" algn="ctr">
                      <a:solidFill>
                        <a:srgbClr val="5B4651"/>
                      </a:solidFill>
                      <a:prstDash val="solid"/>
                      <a:round/>
                      <a:headEnd type="none" w="med" len="med"/>
                      <a:tailEnd type="none" w="med" len="med"/>
                    </a:lnB>
                    <a:solidFill>
                      <a:srgbClr val="2E1423"/>
                    </a:solidFill>
                  </a:tcPr>
                </a:tc>
                <a:tc>
                  <a:txBody>
                    <a:bodyPr/>
                    <a:lstStyle/>
                    <a:p>
                      <a:pPr marL="0" indent="0">
                        <a:lnSpc>
                          <a:spcPts val="1659"/>
                        </a:lnSpc>
                        <a:buNone/>
                      </a:pPr>
                      <a:r>
                        <a:rPr lang="en-US" sz="1185" dirty="0">
                          <a:solidFill>
                            <a:srgbClr val="FFF1F5"/>
                          </a:solidFill>
                          <a:latin typeface="Arial" pitchFamily="34" charset="0"/>
                          <a:ea typeface="Arial" pitchFamily="34" charset="-122"/>
                          <a:cs typeface="Arial" pitchFamily="34" charset="-120"/>
                        </a:rPr>
                        <a:t>Brand name (1,701 distinct)</a:t>
                      </a:r>
                      <a:endParaRPr lang="en-US" sz="1185" dirty="0">
                        <a:latin typeface="Arial" charset="0"/>
                        <a:ea typeface="Arial" charset="0"/>
                        <a:cs typeface="Arial" charset="0"/>
                      </a:endParaRPr>
                    </a:p>
                  </a:txBody>
                  <a:tcPr marL="52673" marR="52673" marT="52673" marB="52673">
                    <a:lnL w="12700" cap="flat" cmpd="sng" algn="ctr">
                      <a:solidFill>
                        <a:srgbClr val="5B4651"/>
                      </a:solidFill>
                      <a:prstDash val="solid"/>
                      <a:round/>
                      <a:headEnd type="none" w="med" len="med"/>
                      <a:tailEnd type="none" w="med" len="med"/>
                    </a:lnL>
                    <a:lnR w="12700" cap="flat" cmpd="sng" algn="ctr">
                      <a:solidFill>
                        <a:srgbClr val="5B4651"/>
                      </a:solidFill>
                      <a:prstDash val="solid"/>
                      <a:round/>
                      <a:headEnd type="none" w="med" len="med"/>
                      <a:tailEnd type="none" w="med" len="med"/>
                    </a:lnR>
                    <a:lnT w="12700" cap="flat" cmpd="sng" algn="ctr">
                      <a:solidFill>
                        <a:srgbClr val="55434D"/>
                      </a:solidFill>
                      <a:prstDash val="solid"/>
                      <a:round/>
                      <a:headEnd type="none" w="med" len="med"/>
                      <a:tailEnd type="none" w="med" len="med"/>
                    </a:lnT>
                    <a:lnB w="12700" cap="flat" cmpd="sng" algn="ctr">
                      <a:solidFill>
                        <a:srgbClr val="5B4651"/>
                      </a:solidFill>
                      <a:prstDash val="solid"/>
                      <a:round/>
                      <a:headEnd type="none" w="med" len="med"/>
                      <a:tailEnd type="none" w="med" len="med"/>
                    </a:lnB>
                    <a:solidFill>
                      <a:srgbClr val="2E1423"/>
                    </a:solidFill>
                  </a:tcPr>
                </a:tc>
                <a:tc>
                  <a:txBody>
                    <a:bodyPr/>
                    <a:lstStyle/>
                    <a:p>
                      <a:pPr marL="0" indent="0" algn="r">
                        <a:lnSpc>
                          <a:spcPts val="1659"/>
                        </a:lnSpc>
                        <a:buNone/>
                      </a:pPr>
                      <a:r>
                        <a:rPr lang="en-US" sz="1185" dirty="0">
                          <a:solidFill>
                            <a:srgbClr val="FFF1F5"/>
                          </a:solidFill>
                          <a:latin typeface="Arial" pitchFamily="34" charset="0"/>
                          <a:ea typeface="Arial" pitchFamily="34" charset="-122"/>
                          <a:cs typeface="Arial" pitchFamily="34" charset="-120"/>
                        </a:rPr>
                        <a:t>Text</a:t>
                      </a:r>
                      <a:endParaRPr lang="en-US" sz="1185" dirty="0">
                        <a:latin typeface="Arial" charset="0"/>
                        <a:ea typeface="Arial" charset="0"/>
                        <a:cs typeface="Arial" charset="0"/>
                      </a:endParaRPr>
                    </a:p>
                  </a:txBody>
                  <a:tcPr marL="52673" marR="52673" marT="52673" marB="52673">
                    <a:lnL w="12700" cap="flat" cmpd="sng" algn="ctr">
                      <a:solidFill>
                        <a:srgbClr val="5B4651"/>
                      </a:solidFill>
                      <a:prstDash val="solid"/>
                      <a:round/>
                      <a:headEnd type="none" w="med" len="med"/>
                      <a:tailEnd type="none" w="med" len="med"/>
                    </a:lnL>
                    <a:lnR w="12700" cap="flat" cmpd="sng" algn="ctr">
                      <a:solidFill>
                        <a:srgbClr val="5B4651"/>
                      </a:solidFill>
                      <a:prstDash val="solid"/>
                      <a:round/>
                      <a:headEnd type="none" w="med" len="med"/>
                      <a:tailEnd type="none" w="med" len="med"/>
                    </a:lnR>
                    <a:lnT w="12700" cap="flat" cmpd="sng" algn="ctr">
                      <a:solidFill>
                        <a:srgbClr val="55434D"/>
                      </a:solidFill>
                      <a:prstDash val="solid"/>
                      <a:round/>
                      <a:headEnd type="none" w="med" len="med"/>
                      <a:tailEnd type="none" w="med" len="med"/>
                    </a:lnT>
                    <a:lnB w="12700" cap="flat" cmpd="sng" algn="ctr">
                      <a:solidFill>
                        <a:srgbClr val="5B4651"/>
                      </a:solidFill>
                      <a:prstDash val="solid"/>
                      <a:round/>
                      <a:headEnd type="none" w="med" len="med"/>
                      <a:tailEnd type="none" w="med" len="med"/>
                    </a:lnB>
                    <a:solidFill>
                      <a:srgbClr val="2E1423"/>
                    </a:solidFill>
                  </a:tcPr>
                </a:tc>
                <a:extLst>
                  <a:ext uri="{0D108BD9-81ED-4DB2-BD59-A6C34878D82A}">
                    <a16:rowId xmlns:a16="http://schemas.microsoft.com/office/drawing/2014/main" val="10003"/>
                  </a:ext>
                </a:extLst>
              </a:tr>
              <a:tr h="328712">
                <a:tc>
                  <a:txBody>
                    <a:bodyPr/>
                    <a:lstStyle/>
                    <a:p>
                      <a:pPr marL="0" indent="0">
                        <a:lnSpc>
                          <a:spcPts val="1659"/>
                        </a:lnSpc>
                        <a:buNone/>
                      </a:pPr>
                      <a:r>
                        <a:rPr lang="en-US" sz="1185" dirty="0">
                          <a:solidFill>
                            <a:srgbClr val="FF4F81"/>
                          </a:solidFill>
                          <a:latin typeface="Arial" pitchFamily="34" charset="0"/>
                          <a:ea typeface="Arial" pitchFamily="34" charset="-122"/>
                          <a:cs typeface="Arial" pitchFamily="34" charset="-120"/>
                        </a:rPr>
                        <a:t>mrp</a:t>
                      </a:r>
                      <a:endParaRPr lang="en-US" sz="1185" dirty="0">
                        <a:latin typeface="Arial" charset="0"/>
                        <a:ea typeface="Arial" charset="0"/>
                        <a:cs typeface="Arial" charset="0"/>
                      </a:endParaRPr>
                    </a:p>
                  </a:txBody>
                  <a:tcPr marL="52673" marR="52673" marT="52673" marB="52673">
                    <a:lnL w="12700" cap="flat" cmpd="sng" algn="ctr">
                      <a:solidFill>
                        <a:srgbClr val="4F3F47"/>
                      </a:solidFill>
                      <a:prstDash val="solid"/>
                      <a:round/>
                      <a:headEnd type="none" w="med" len="med"/>
                      <a:tailEnd type="none" w="med" len="med"/>
                    </a:lnL>
                    <a:lnR w="12700" cap="flat" cmpd="sng" algn="ctr">
                      <a:solidFill>
                        <a:srgbClr val="55434D"/>
                      </a:solidFill>
                      <a:prstDash val="solid"/>
                      <a:round/>
                      <a:headEnd type="none" w="med" len="med"/>
                      <a:tailEnd type="none" w="med" len="med"/>
                    </a:lnR>
                    <a:lnT w="12700" cap="flat" cmpd="sng" algn="ctr">
                      <a:solidFill>
                        <a:srgbClr val="5B4651"/>
                      </a:solidFill>
                      <a:prstDash val="solid"/>
                      <a:round/>
                      <a:headEnd type="none" w="med" len="med"/>
                      <a:tailEnd type="none" w="med" len="med"/>
                    </a:lnT>
                    <a:lnB w="12700" cap="flat" cmpd="sng" algn="ctr">
                      <a:solidFill>
                        <a:srgbClr val="55434D"/>
                      </a:solidFill>
                      <a:prstDash val="solid"/>
                      <a:round/>
                      <a:headEnd type="none" w="med" len="med"/>
                      <a:tailEnd type="none" w="med" len="med"/>
                    </a:lnB>
                    <a:solidFill>
                      <a:srgbClr val="26101D"/>
                    </a:solidFill>
                  </a:tcPr>
                </a:tc>
                <a:tc>
                  <a:txBody>
                    <a:bodyPr/>
                    <a:lstStyle/>
                    <a:p>
                      <a:pPr marL="0" indent="0">
                        <a:lnSpc>
                          <a:spcPts val="1659"/>
                        </a:lnSpc>
                        <a:buNone/>
                      </a:pPr>
                      <a:r>
                        <a:rPr lang="en-US" sz="1185" dirty="0">
                          <a:solidFill>
                            <a:srgbClr val="FFF1F5"/>
                          </a:solidFill>
                          <a:latin typeface="Arial" pitchFamily="34" charset="0"/>
                          <a:ea typeface="Arial" pitchFamily="34" charset="-122"/>
                          <a:cs typeface="Arial" pitchFamily="34" charset="-120"/>
                        </a:rPr>
                        <a:t>List price in ₹</a:t>
                      </a:r>
                      <a:endParaRPr lang="en-US" sz="1185" dirty="0">
                        <a:latin typeface="Arial" charset="0"/>
                        <a:ea typeface="Arial" charset="0"/>
                        <a:cs typeface="Arial" charset="0"/>
                      </a:endParaRPr>
                    </a:p>
                  </a:txBody>
                  <a:tcPr marL="52673" marR="52673" marT="52673" marB="52673">
                    <a:lnL w="12700" cap="flat" cmpd="sng" algn="ctr">
                      <a:solidFill>
                        <a:srgbClr val="55434D"/>
                      </a:solidFill>
                      <a:prstDash val="solid"/>
                      <a:round/>
                      <a:headEnd type="none" w="med" len="med"/>
                      <a:tailEnd type="none" w="med" len="med"/>
                    </a:lnL>
                    <a:lnR w="12700" cap="flat" cmpd="sng" algn="ctr">
                      <a:solidFill>
                        <a:srgbClr val="55434D"/>
                      </a:solidFill>
                      <a:prstDash val="solid"/>
                      <a:round/>
                      <a:headEnd type="none" w="med" len="med"/>
                      <a:tailEnd type="none" w="med" len="med"/>
                    </a:lnR>
                    <a:lnT w="12700" cap="flat" cmpd="sng" algn="ctr">
                      <a:solidFill>
                        <a:srgbClr val="5B4651"/>
                      </a:solidFill>
                      <a:prstDash val="solid"/>
                      <a:round/>
                      <a:headEnd type="none" w="med" len="med"/>
                      <a:tailEnd type="none" w="med" len="med"/>
                    </a:lnT>
                    <a:lnB w="12700" cap="flat" cmpd="sng" algn="ctr">
                      <a:solidFill>
                        <a:srgbClr val="55434D"/>
                      </a:solidFill>
                      <a:prstDash val="solid"/>
                      <a:round/>
                      <a:headEnd type="none" w="med" len="med"/>
                      <a:tailEnd type="none" w="med" len="med"/>
                    </a:lnB>
                    <a:solidFill>
                      <a:srgbClr val="26101D"/>
                    </a:solidFill>
                  </a:tcPr>
                </a:tc>
                <a:tc>
                  <a:txBody>
                    <a:bodyPr/>
                    <a:lstStyle/>
                    <a:p>
                      <a:pPr marL="0" indent="0" algn="r">
                        <a:lnSpc>
                          <a:spcPts val="1659"/>
                        </a:lnSpc>
                        <a:buNone/>
                      </a:pPr>
                      <a:r>
                        <a:rPr lang="en-US" sz="1185" dirty="0">
                          <a:solidFill>
                            <a:srgbClr val="FFF1F5"/>
                          </a:solidFill>
                          <a:latin typeface="Arial" pitchFamily="34" charset="0"/>
                          <a:ea typeface="Arial" pitchFamily="34" charset="-122"/>
                          <a:cs typeface="Arial" pitchFamily="34" charset="-120"/>
                        </a:rPr>
                        <a:t>Number</a:t>
                      </a:r>
                      <a:endParaRPr lang="en-US" sz="1185" dirty="0">
                        <a:latin typeface="Arial" charset="0"/>
                        <a:ea typeface="Arial" charset="0"/>
                        <a:cs typeface="Arial" charset="0"/>
                      </a:endParaRPr>
                    </a:p>
                  </a:txBody>
                  <a:tcPr marL="52673" marR="52673" marT="52673" marB="52673">
                    <a:lnL w="12700" cap="flat" cmpd="sng" algn="ctr">
                      <a:solidFill>
                        <a:srgbClr val="55434D"/>
                      </a:solidFill>
                      <a:prstDash val="solid"/>
                      <a:round/>
                      <a:headEnd type="none" w="med" len="med"/>
                      <a:tailEnd type="none" w="med" len="med"/>
                    </a:lnL>
                    <a:lnR w="12700" cap="flat" cmpd="sng" algn="ctr">
                      <a:solidFill>
                        <a:srgbClr val="55434D"/>
                      </a:solidFill>
                      <a:prstDash val="solid"/>
                      <a:round/>
                      <a:headEnd type="none" w="med" len="med"/>
                      <a:tailEnd type="none" w="med" len="med"/>
                    </a:lnR>
                    <a:lnT w="12700" cap="flat" cmpd="sng" algn="ctr">
                      <a:solidFill>
                        <a:srgbClr val="5B4651"/>
                      </a:solidFill>
                      <a:prstDash val="solid"/>
                      <a:round/>
                      <a:headEnd type="none" w="med" len="med"/>
                      <a:tailEnd type="none" w="med" len="med"/>
                    </a:lnT>
                    <a:lnB w="12700" cap="flat" cmpd="sng" algn="ctr">
                      <a:solidFill>
                        <a:srgbClr val="55434D"/>
                      </a:solidFill>
                      <a:prstDash val="solid"/>
                      <a:round/>
                      <a:headEnd type="none" w="med" len="med"/>
                      <a:tailEnd type="none" w="med" len="med"/>
                    </a:lnB>
                    <a:solidFill>
                      <a:srgbClr val="26101D"/>
                    </a:solidFill>
                  </a:tcPr>
                </a:tc>
                <a:extLst>
                  <a:ext uri="{0D108BD9-81ED-4DB2-BD59-A6C34878D82A}">
                    <a16:rowId xmlns:a16="http://schemas.microsoft.com/office/drawing/2014/main" val="10004"/>
                  </a:ext>
                </a:extLst>
              </a:tr>
              <a:tr h="328712">
                <a:tc>
                  <a:txBody>
                    <a:bodyPr/>
                    <a:lstStyle/>
                    <a:p>
                      <a:pPr marL="0" indent="0">
                        <a:lnSpc>
                          <a:spcPts val="1659"/>
                        </a:lnSpc>
                        <a:buNone/>
                      </a:pPr>
                      <a:r>
                        <a:rPr lang="en-US" sz="1185" dirty="0">
                          <a:solidFill>
                            <a:srgbClr val="FF4F81"/>
                          </a:solidFill>
                          <a:latin typeface="Arial" pitchFamily="34" charset="0"/>
                          <a:ea typeface="Arial" pitchFamily="34" charset="-122"/>
                          <a:cs typeface="Arial" pitchFamily="34" charset="-120"/>
                        </a:rPr>
                        <a:t>price</a:t>
                      </a:r>
                      <a:endParaRPr lang="en-US" sz="1185" dirty="0">
                        <a:latin typeface="Arial" charset="0"/>
                        <a:ea typeface="Arial" charset="0"/>
                        <a:cs typeface="Arial" charset="0"/>
                      </a:endParaRPr>
                    </a:p>
                  </a:txBody>
                  <a:tcPr marL="52673" marR="52673" marT="52673" marB="52673">
                    <a:lnL w="12700" cap="flat" cmpd="sng" algn="ctr">
                      <a:solidFill>
                        <a:srgbClr val="4F3F47"/>
                      </a:solidFill>
                      <a:prstDash val="solid"/>
                      <a:round/>
                      <a:headEnd type="none" w="med" len="med"/>
                      <a:tailEnd type="none" w="med" len="med"/>
                    </a:lnL>
                    <a:lnR w="12700" cap="flat" cmpd="sng" algn="ctr">
                      <a:solidFill>
                        <a:srgbClr val="5B4651"/>
                      </a:solidFill>
                      <a:prstDash val="solid"/>
                      <a:round/>
                      <a:headEnd type="none" w="med" len="med"/>
                      <a:tailEnd type="none" w="med" len="med"/>
                    </a:lnR>
                    <a:lnT w="12700" cap="flat" cmpd="sng" algn="ctr">
                      <a:solidFill>
                        <a:srgbClr val="55434D"/>
                      </a:solidFill>
                      <a:prstDash val="solid"/>
                      <a:round/>
                      <a:headEnd type="none" w="med" len="med"/>
                      <a:tailEnd type="none" w="med" len="med"/>
                    </a:lnT>
                    <a:lnB w="12700" cap="flat" cmpd="sng" algn="ctr">
                      <a:solidFill>
                        <a:srgbClr val="5B4651"/>
                      </a:solidFill>
                      <a:prstDash val="solid"/>
                      <a:round/>
                      <a:headEnd type="none" w="med" len="med"/>
                      <a:tailEnd type="none" w="med" len="med"/>
                    </a:lnB>
                    <a:solidFill>
                      <a:srgbClr val="2E1423"/>
                    </a:solidFill>
                  </a:tcPr>
                </a:tc>
                <a:tc>
                  <a:txBody>
                    <a:bodyPr/>
                    <a:lstStyle/>
                    <a:p>
                      <a:pPr marL="0" indent="0">
                        <a:lnSpc>
                          <a:spcPts val="1659"/>
                        </a:lnSpc>
                        <a:buNone/>
                      </a:pPr>
                      <a:r>
                        <a:rPr lang="en-US" sz="1185" dirty="0">
                          <a:solidFill>
                            <a:srgbClr val="FFF1F5"/>
                          </a:solidFill>
                          <a:latin typeface="Arial" pitchFamily="34" charset="0"/>
                          <a:ea typeface="Arial" pitchFamily="34" charset="-122"/>
                          <a:cs typeface="Arial" pitchFamily="34" charset="-120"/>
                        </a:rPr>
                        <a:t>Selling price in ₹</a:t>
                      </a:r>
                      <a:endParaRPr lang="en-US" sz="1185" dirty="0">
                        <a:latin typeface="Arial" charset="0"/>
                        <a:ea typeface="Arial" charset="0"/>
                        <a:cs typeface="Arial" charset="0"/>
                      </a:endParaRPr>
                    </a:p>
                  </a:txBody>
                  <a:tcPr marL="52673" marR="52673" marT="52673" marB="52673">
                    <a:lnL w="12700" cap="flat" cmpd="sng" algn="ctr">
                      <a:solidFill>
                        <a:srgbClr val="5B4651"/>
                      </a:solidFill>
                      <a:prstDash val="solid"/>
                      <a:round/>
                      <a:headEnd type="none" w="med" len="med"/>
                      <a:tailEnd type="none" w="med" len="med"/>
                    </a:lnL>
                    <a:lnR w="12700" cap="flat" cmpd="sng" algn="ctr">
                      <a:solidFill>
                        <a:srgbClr val="5B4651"/>
                      </a:solidFill>
                      <a:prstDash val="solid"/>
                      <a:round/>
                      <a:headEnd type="none" w="med" len="med"/>
                      <a:tailEnd type="none" w="med" len="med"/>
                    </a:lnR>
                    <a:lnT w="12700" cap="flat" cmpd="sng" algn="ctr">
                      <a:solidFill>
                        <a:srgbClr val="55434D"/>
                      </a:solidFill>
                      <a:prstDash val="solid"/>
                      <a:round/>
                      <a:headEnd type="none" w="med" len="med"/>
                      <a:tailEnd type="none" w="med" len="med"/>
                    </a:lnT>
                    <a:lnB w="12700" cap="flat" cmpd="sng" algn="ctr">
                      <a:solidFill>
                        <a:srgbClr val="5B4651"/>
                      </a:solidFill>
                      <a:prstDash val="solid"/>
                      <a:round/>
                      <a:headEnd type="none" w="med" len="med"/>
                      <a:tailEnd type="none" w="med" len="med"/>
                    </a:lnB>
                    <a:solidFill>
                      <a:srgbClr val="2E1423"/>
                    </a:solidFill>
                  </a:tcPr>
                </a:tc>
                <a:tc>
                  <a:txBody>
                    <a:bodyPr/>
                    <a:lstStyle/>
                    <a:p>
                      <a:pPr marL="0" indent="0" algn="r">
                        <a:lnSpc>
                          <a:spcPts val="1659"/>
                        </a:lnSpc>
                        <a:buNone/>
                      </a:pPr>
                      <a:r>
                        <a:rPr lang="en-US" sz="1185" dirty="0">
                          <a:solidFill>
                            <a:srgbClr val="FFF1F5"/>
                          </a:solidFill>
                          <a:latin typeface="Arial" pitchFamily="34" charset="0"/>
                          <a:ea typeface="Arial" pitchFamily="34" charset="-122"/>
                          <a:cs typeface="Arial" pitchFamily="34" charset="-120"/>
                        </a:rPr>
                        <a:t>Number</a:t>
                      </a:r>
                      <a:endParaRPr lang="en-US" sz="1185" dirty="0">
                        <a:latin typeface="Arial" charset="0"/>
                        <a:ea typeface="Arial" charset="0"/>
                        <a:cs typeface="Arial" charset="0"/>
                      </a:endParaRPr>
                    </a:p>
                  </a:txBody>
                  <a:tcPr marL="52673" marR="52673" marT="52673" marB="52673">
                    <a:lnL w="12700" cap="flat" cmpd="sng" algn="ctr">
                      <a:solidFill>
                        <a:srgbClr val="5B4651"/>
                      </a:solidFill>
                      <a:prstDash val="solid"/>
                      <a:round/>
                      <a:headEnd type="none" w="med" len="med"/>
                      <a:tailEnd type="none" w="med" len="med"/>
                    </a:lnL>
                    <a:lnR w="12700" cap="flat" cmpd="sng" algn="ctr">
                      <a:solidFill>
                        <a:srgbClr val="5B4651"/>
                      </a:solidFill>
                      <a:prstDash val="solid"/>
                      <a:round/>
                      <a:headEnd type="none" w="med" len="med"/>
                      <a:tailEnd type="none" w="med" len="med"/>
                    </a:lnR>
                    <a:lnT w="12700" cap="flat" cmpd="sng" algn="ctr">
                      <a:solidFill>
                        <a:srgbClr val="55434D"/>
                      </a:solidFill>
                      <a:prstDash val="solid"/>
                      <a:round/>
                      <a:headEnd type="none" w="med" len="med"/>
                      <a:tailEnd type="none" w="med" len="med"/>
                    </a:lnT>
                    <a:lnB w="12700" cap="flat" cmpd="sng" algn="ctr">
                      <a:solidFill>
                        <a:srgbClr val="5B4651"/>
                      </a:solidFill>
                      <a:prstDash val="solid"/>
                      <a:round/>
                      <a:headEnd type="none" w="med" len="med"/>
                      <a:tailEnd type="none" w="med" len="med"/>
                    </a:lnB>
                    <a:solidFill>
                      <a:srgbClr val="2E1423"/>
                    </a:solidFill>
                  </a:tcPr>
                </a:tc>
                <a:extLst>
                  <a:ext uri="{0D108BD9-81ED-4DB2-BD59-A6C34878D82A}">
                    <a16:rowId xmlns:a16="http://schemas.microsoft.com/office/drawing/2014/main" val="10005"/>
                  </a:ext>
                </a:extLst>
              </a:tr>
              <a:tr h="328712">
                <a:tc>
                  <a:txBody>
                    <a:bodyPr/>
                    <a:lstStyle/>
                    <a:p>
                      <a:pPr marL="0" indent="0">
                        <a:lnSpc>
                          <a:spcPts val="1659"/>
                        </a:lnSpc>
                        <a:buNone/>
                      </a:pPr>
                      <a:r>
                        <a:rPr lang="en-US" sz="1185" dirty="0">
                          <a:solidFill>
                            <a:srgbClr val="FF4F81"/>
                          </a:solidFill>
                          <a:latin typeface="Arial" pitchFamily="34" charset="0"/>
                          <a:ea typeface="Arial" pitchFamily="34" charset="-122"/>
                          <a:cs typeface="Arial" pitchFamily="34" charset="-120"/>
                        </a:rPr>
                        <a:t>discount_pct</a:t>
                      </a:r>
                      <a:endParaRPr lang="en-US" sz="1185" dirty="0">
                        <a:latin typeface="Arial" charset="0"/>
                        <a:ea typeface="Arial" charset="0"/>
                        <a:cs typeface="Arial" charset="0"/>
                      </a:endParaRPr>
                    </a:p>
                  </a:txBody>
                  <a:tcPr marL="52673" marR="52673" marT="52673" marB="52673">
                    <a:lnL w="12700" cap="flat" cmpd="sng" algn="ctr">
                      <a:solidFill>
                        <a:srgbClr val="4F3F47"/>
                      </a:solidFill>
                      <a:prstDash val="solid"/>
                      <a:round/>
                      <a:headEnd type="none" w="med" len="med"/>
                      <a:tailEnd type="none" w="med" len="med"/>
                    </a:lnL>
                    <a:lnR w="12700" cap="flat" cmpd="sng" algn="ctr">
                      <a:solidFill>
                        <a:srgbClr val="55434D"/>
                      </a:solidFill>
                      <a:prstDash val="solid"/>
                      <a:round/>
                      <a:headEnd type="none" w="med" len="med"/>
                      <a:tailEnd type="none" w="med" len="med"/>
                    </a:lnR>
                    <a:lnT w="12700" cap="flat" cmpd="sng" algn="ctr">
                      <a:solidFill>
                        <a:srgbClr val="5B4651"/>
                      </a:solidFill>
                      <a:prstDash val="solid"/>
                      <a:round/>
                      <a:headEnd type="none" w="med" len="med"/>
                      <a:tailEnd type="none" w="med" len="med"/>
                    </a:lnT>
                    <a:lnB w="12700" cap="flat" cmpd="sng" algn="ctr">
                      <a:solidFill>
                        <a:srgbClr val="55434D"/>
                      </a:solidFill>
                      <a:prstDash val="solid"/>
                      <a:round/>
                      <a:headEnd type="none" w="med" len="med"/>
                      <a:tailEnd type="none" w="med" len="med"/>
                    </a:lnB>
                    <a:solidFill>
                      <a:srgbClr val="26101D"/>
                    </a:solidFill>
                  </a:tcPr>
                </a:tc>
                <a:tc>
                  <a:txBody>
                    <a:bodyPr/>
                    <a:lstStyle/>
                    <a:p>
                      <a:pPr marL="0" indent="0">
                        <a:lnSpc>
                          <a:spcPts val="1659"/>
                        </a:lnSpc>
                        <a:buNone/>
                      </a:pPr>
                      <a:r>
                        <a:rPr lang="en-US" sz="1185" dirty="0">
                          <a:solidFill>
                            <a:srgbClr val="FFF1F5"/>
                          </a:solidFill>
                          <a:latin typeface="Arial" pitchFamily="34" charset="0"/>
                          <a:ea typeface="Arial" pitchFamily="34" charset="-122"/>
                          <a:cs typeface="Arial" pitchFamily="34" charset="-120"/>
                        </a:rPr>
                        <a:t>Discount %, recomputed from MRP and price</a:t>
                      </a:r>
                      <a:endParaRPr lang="en-US" sz="1185" dirty="0">
                        <a:latin typeface="Arial" charset="0"/>
                        <a:ea typeface="Arial" charset="0"/>
                        <a:cs typeface="Arial" charset="0"/>
                      </a:endParaRPr>
                    </a:p>
                  </a:txBody>
                  <a:tcPr marL="52673" marR="52673" marT="52673" marB="52673">
                    <a:lnL w="12700" cap="flat" cmpd="sng" algn="ctr">
                      <a:solidFill>
                        <a:srgbClr val="55434D"/>
                      </a:solidFill>
                      <a:prstDash val="solid"/>
                      <a:round/>
                      <a:headEnd type="none" w="med" len="med"/>
                      <a:tailEnd type="none" w="med" len="med"/>
                    </a:lnL>
                    <a:lnR w="12700" cap="flat" cmpd="sng" algn="ctr">
                      <a:solidFill>
                        <a:srgbClr val="55434D"/>
                      </a:solidFill>
                      <a:prstDash val="solid"/>
                      <a:round/>
                      <a:headEnd type="none" w="med" len="med"/>
                      <a:tailEnd type="none" w="med" len="med"/>
                    </a:lnR>
                    <a:lnT w="12700" cap="flat" cmpd="sng" algn="ctr">
                      <a:solidFill>
                        <a:srgbClr val="5B4651"/>
                      </a:solidFill>
                      <a:prstDash val="solid"/>
                      <a:round/>
                      <a:headEnd type="none" w="med" len="med"/>
                      <a:tailEnd type="none" w="med" len="med"/>
                    </a:lnT>
                    <a:lnB w="12700" cap="flat" cmpd="sng" algn="ctr">
                      <a:solidFill>
                        <a:srgbClr val="55434D"/>
                      </a:solidFill>
                      <a:prstDash val="solid"/>
                      <a:round/>
                      <a:headEnd type="none" w="med" len="med"/>
                      <a:tailEnd type="none" w="med" len="med"/>
                    </a:lnB>
                    <a:solidFill>
                      <a:srgbClr val="26101D"/>
                    </a:solidFill>
                  </a:tcPr>
                </a:tc>
                <a:tc>
                  <a:txBody>
                    <a:bodyPr/>
                    <a:lstStyle/>
                    <a:p>
                      <a:pPr marL="0" indent="0" algn="r">
                        <a:lnSpc>
                          <a:spcPts val="1659"/>
                        </a:lnSpc>
                        <a:buNone/>
                      </a:pPr>
                      <a:r>
                        <a:rPr lang="en-US" sz="1185" dirty="0">
                          <a:solidFill>
                            <a:srgbClr val="FFF1F5"/>
                          </a:solidFill>
                          <a:latin typeface="Arial" pitchFamily="34" charset="0"/>
                          <a:ea typeface="Arial" pitchFamily="34" charset="-122"/>
                          <a:cs typeface="Arial" pitchFamily="34" charset="-120"/>
                        </a:rPr>
                        <a:t>Number</a:t>
                      </a:r>
                      <a:endParaRPr lang="en-US" sz="1185" dirty="0">
                        <a:latin typeface="Arial" charset="0"/>
                        <a:ea typeface="Arial" charset="0"/>
                        <a:cs typeface="Arial" charset="0"/>
                      </a:endParaRPr>
                    </a:p>
                  </a:txBody>
                  <a:tcPr marL="52673" marR="52673" marT="52673" marB="52673">
                    <a:lnL w="12700" cap="flat" cmpd="sng" algn="ctr">
                      <a:solidFill>
                        <a:srgbClr val="55434D"/>
                      </a:solidFill>
                      <a:prstDash val="solid"/>
                      <a:round/>
                      <a:headEnd type="none" w="med" len="med"/>
                      <a:tailEnd type="none" w="med" len="med"/>
                    </a:lnL>
                    <a:lnR w="12700" cap="flat" cmpd="sng" algn="ctr">
                      <a:solidFill>
                        <a:srgbClr val="55434D"/>
                      </a:solidFill>
                      <a:prstDash val="solid"/>
                      <a:round/>
                      <a:headEnd type="none" w="med" len="med"/>
                      <a:tailEnd type="none" w="med" len="med"/>
                    </a:lnR>
                    <a:lnT w="12700" cap="flat" cmpd="sng" algn="ctr">
                      <a:solidFill>
                        <a:srgbClr val="5B4651"/>
                      </a:solidFill>
                      <a:prstDash val="solid"/>
                      <a:round/>
                      <a:headEnd type="none" w="med" len="med"/>
                      <a:tailEnd type="none" w="med" len="med"/>
                    </a:lnT>
                    <a:lnB w="12700" cap="flat" cmpd="sng" algn="ctr">
                      <a:solidFill>
                        <a:srgbClr val="55434D"/>
                      </a:solidFill>
                      <a:prstDash val="solid"/>
                      <a:round/>
                      <a:headEnd type="none" w="med" len="med"/>
                      <a:tailEnd type="none" w="med" len="med"/>
                    </a:lnB>
                    <a:solidFill>
                      <a:srgbClr val="26101D"/>
                    </a:solidFill>
                  </a:tcPr>
                </a:tc>
                <a:extLst>
                  <a:ext uri="{0D108BD9-81ED-4DB2-BD59-A6C34878D82A}">
                    <a16:rowId xmlns:a16="http://schemas.microsoft.com/office/drawing/2014/main" val="10006"/>
                  </a:ext>
                </a:extLst>
              </a:tr>
              <a:tr h="328712">
                <a:tc>
                  <a:txBody>
                    <a:bodyPr/>
                    <a:lstStyle/>
                    <a:p>
                      <a:pPr marL="0" indent="0">
                        <a:lnSpc>
                          <a:spcPts val="1659"/>
                        </a:lnSpc>
                        <a:buNone/>
                      </a:pPr>
                      <a:r>
                        <a:rPr lang="en-US" sz="1185" dirty="0">
                          <a:solidFill>
                            <a:srgbClr val="FF4F81"/>
                          </a:solidFill>
                          <a:latin typeface="Arial" pitchFamily="34" charset="0"/>
                          <a:ea typeface="Arial" pitchFamily="34" charset="-122"/>
                          <a:cs typeface="Arial" pitchFamily="34" charset="-120"/>
                        </a:rPr>
                        <a:t>rating</a:t>
                      </a:r>
                      <a:endParaRPr lang="en-US" sz="1185" dirty="0">
                        <a:latin typeface="Arial" charset="0"/>
                        <a:ea typeface="Arial" charset="0"/>
                        <a:cs typeface="Arial" charset="0"/>
                      </a:endParaRPr>
                    </a:p>
                  </a:txBody>
                  <a:tcPr marL="52673" marR="52673" marT="52673" marB="52673">
                    <a:lnL w="12700" cap="flat" cmpd="sng" algn="ctr">
                      <a:solidFill>
                        <a:srgbClr val="4F3F47"/>
                      </a:solidFill>
                      <a:prstDash val="solid"/>
                      <a:round/>
                      <a:headEnd type="none" w="med" len="med"/>
                      <a:tailEnd type="none" w="med" len="med"/>
                    </a:lnL>
                    <a:lnR w="12700" cap="flat" cmpd="sng" algn="ctr">
                      <a:solidFill>
                        <a:srgbClr val="5B4651"/>
                      </a:solidFill>
                      <a:prstDash val="solid"/>
                      <a:round/>
                      <a:headEnd type="none" w="med" len="med"/>
                      <a:tailEnd type="none" w="med" len="med"/>
                    </a:lnR>
                    <a:lnT w="12700" cap="flat" cmpd="sng" algn="ctr">
                      <a:solidFill>
                        <a:srgbClr val="55434D"/>
                      </a:solidFill>
                      <a:prstDash val="solid"/>
                      <a:round/>
                      <a:headEnd type="none" w="med" len="med"/>
                      <a:tailEnd type="none" w="med" len="med"/>
                    </a:lnT>
                    <a:lnB w="12700" cap="flat" cmpd="sng" algn="ctr">
                      <a:solidFill>
                        <a:srgbClr val="5B4651"/>
                      </a:solidFill>
                      <a:prstDash val="solid"/>
                      <a:round/>
                      <a:headEnd type="none" w="med" len="med"/>
                      <a:tailEnd type="none" w="med" len="med"/>
                    </a:lnB>
                    <a:solidFill>
                      <a:srgbClr val="2E1423"/>
                    </a:solidFill>
                  </a:tcPr>
                </a:tc>
                <a:tc>
                  <a:txBody>
                    <a:bodyPr/>
                    <a:lstStyle/>
                    <a:p>
                      <a:pPr marL="0" indent="0">
                        <a:lnSpc>
                          <a:spcPts val="1659"/>
                        </a:lnSpc>
                        <a:buNone/>
                      </a:pPr>
                      <a:r>
                        <a:rPr lang="en-US" sz="1185" dirty="0">
                          <a:solidFill>
                            <a:srgbClr val="FFF1F5"/>
                          </a:solidFill>
                          <a:latin typeface="Arial" pitchFamily="34" charset="0"/>
                          <a:ea typeface="Arial" pitchFamily="34" charset="-122"/>
                          <a:cs typeface="Arial" pitchFamily="34" charset="-120"/>
                        </a:rPr>
                        <a:t>Average star rating, 0 to 5</a:t>
                      </a:r>
                      <a:endParaRPr lang="en-US" sz="1185" dirty="0">
                        <a:latin typeface="Arial" charset="0"/>
                        <a:ea typeface="Arial" charset="0"/>
                        <a:cs typeface="Arial" charset="0"/>
                      </a:endParaRPr>
                    </a:p>
                  </a:txBody>
                  <a:tcPr marL="52673" marR="52673" marT="52673" marB="52673">
                    <a:lnL w="12700" cap="flat" cmpd="sng" algn="ctr">
                      <a:solidFill>
                        <a:srgbClr val="5B4651"/>
                      </a:solidFill>
                      <a:prstDash val="solid"/>
                      <a:round/>
                      <a:headEnd type="none" w="med" len="med"/>
                      <a:tailEnd type="none" w="med" len="med"/>
                    </a:lnL>
                    <a:lnR w="12700" cap="flat" cmpd="sng" algn="ctr">
                      <a:solidFill>
                        <a:srgbClr val="5B4651"/>
                      </a:solidFill>
                      <a:prstDash val="solid"/>
                      <a:round/>
                      <a:headEnd type="none" w="med" len="med"/>
                      <a:tailEnd type="none" w="med" len="med"/>
                    </a:lnR>
                    <a:lnT w="12700" cap="flat" cmpd="sng" algn="ctr">
                      <a:solidFill>
                        <a:srgbClr val="55434D"/>
                      </a:solidFill>
                      <a:prstDash val="solid"/>
                      <a:round/>
                      <a:headEnd type="none" w="med" len="med"/>
                      <a:tailEnd type="none" w="med" len="med"/>
                    </a:lnT>
                    <a:lnB w="12700" cap="flat" cmpd="sng" algn="ctr">
                      <a:solidFill>
                        <a:srgbClr val="5B4651"/>
                      </a:solidFill>
                      <a:prstDash val="solid"/>
                      <a:round/>
                      <a:headEnd type="none" w="med" len="med"/>
                      <a:tailEnd type="none" w="med" len="med"/>
                    </a:lnB>
                    <a:solidFill>
                      <a:srgbClr val="2E1423"/>
                    </a:solidFill>
                  </a:tcPr>
                </a:tc>
                <a:tc>
                  <a:txBody>
                    <a:bodyPr/>
                    <a:lstStyle/>
                    <a:p>
                      <a:pPr marL="0" indent="0" algn="r">
                        <a:lnSpc>
                          <a:spcPts val="1659"/>
                        </a:lnSpc>
                        <a:buNone/>
                      </a:pPr>
                      <a:r>
                        <a:rPr lang="en-US" sz="1185" dirty="0">
                          <a:solidFill>
                            <a:srgbClr val="FFF1F5"/>
                          </a:solidFill>
                          <a:latin typeface="Arial" pitchFamily="34" charset="0"/>
                          <a:ea typeface="Arial" pitchFamily="34" charset="-122"/>
                          <a:cs typeface="Arial" pitchFamily="34" charset="-120"/>
                        </a:rPr>
                        <a:t>Number</a:t>
                      </a:r>
                      <a:endParaRPr lang="en-US" sz="1185" dirty="0">
                        <a:latin typeface="Arial" charset="0"/>
                        <a:ea typeface="Arial" charset="0"/>
                        <a:cs typeface="Arial" charset="0"/>
                      </a:endParaRPr>
                    </a:p>
                  </a:txBody>
                  <a:tcPr marL="52673" marR="52673" marT="52673" marB="52673">
                    <a:lnL w="12700" cap="flat" cmpd="sng" algn="ctr">
                      <a:solidFill>
                        <a:srgbClr val="5B4651"/>
                      </a:solidFill>
                      <a:prstDash val="solid"/>
                      <a:round/>
                      <a:headEnd type="none" w="med" len="med"/>
                      <a:tailEnd type="none" w="med" len="med"/>
                    </a:lnL>
                    <a:lnR w="12700" cap="flat" cmpd="sng" algn="ctr">
                      <a:solidFill>
                        <a:srgbClr val="5B4651"/>
                      </a:solidFill>
                      <a:prstDash val="solid"/>
                      <a:round/>
                      <a:headEnd type="none" w="med" len="med"/>
                      <a:tailEnd type="none" w="med" len="med"/>
                    </a:lnR>
                    <a:lnT w="12700" cap="flat" cmpd="sng" algn="ctr">
                      <a:solidFill>
                        <a:srgbClr val="55434D"/>
                      </a:solidFill>
                      <a:prstDash val="solid"/>
                      <a:round/>
                      <a:headEnd type="none" w="med" len="med"/>
                      <a:tailEnd type="none" w="med" len="med"/>
                    </a:lnT>
                    <a:lnB w="12700" cap="flat" cmpd="sng" algn="ctr">
                      <a:solidFill>
                        <a:srgbClr val="5B4651"/>
                      </a:solidFill>
                      <a:prstDash val="solid"/>
                      <a:round/>
                      <a:headEnd type="none" w="med" len="med"/>
                      <a:tailEnd type="none" w="med" len="med"/>
                    </a:lnB>
                    <a:solidFill>
                      <a:srgbClr val="2E1423"/>
                    </a:solidFill>
                  </a:tcPr>
                </a:tc>
                <a:extLst>
                  <a:ext uri="{0D108BD9-81ED-4DB2-BD59-A6C34878D82A}">
                    <a16:rowId xmlns:a16="http://schemas.microsoft.com/office/drawing/2014/main" val="10007"/>
                  </a:ext>
                </a:extLst>
              </a:tr>
              <a:tr h="328811">
                <a:tc>
                  <a:txBody>
                    <a:bodyPr/>
                    <a:lstStyle/>
                    <a:p>
                      <a:pPr marL="0" indent="0">
                        <a:lnSpc>
                          <a:spcPts val="1659"/>
                        </a:lnSpc>
                        <a:buNone/>
                      </a:pPr>
                      <a:r>
                        <a:rPr lang="en-US" sz="1185" dirty="0">
                          <a:solidFill>
                            <a:srgbClr val="FF4F81"/>
                          </a:solidFill>
                          <a:latin typeface="Arial" pitchFamily="34" charset="0"/>
                          <a:ea typeface="Arial" pitchFamily="34" charset="-122"/>
                          <a:cs typeface="Arial" pitchFamily="34" charset="-120"/>
                        </a:rPr>
                        <a:t>rating_count</a:t>
                      </a:r>
                      <a:endParaRPr lang="en-US" sz="1185" dirty="0">
                        <a:latin typeface="Arial" charset="0"/>
                        <a:ea typeface="Arial" charset="0"/>
                        <a:cs typeface="Arial" charset="0"/>
                      </a:endParaRPr>
                    </a:p>
                  </a:txBody>
                  <a:tcPr marL="52673" marR="52673" marT="52673" marB="52673">
                    <a:lnL w="12700" cap="flat" cmpd="sng" algn="ctr">
                      <a:solidFill>
                        <a:srgbClr val="4F3F47"/>
                      </a:solidFill>
                      <a:prstDash val="solid"/>
                      <a:round/>
                      <a:headEnd type="none" w="med" len="med"/>
                      <a:tailEnd type="none" w="med" len="med"/>
                    </a:lnL>
                    <a:lnR w="12700" cap="flat" cmpd="sng" algn="ctr">
                      <a:solidFill>
                        <a:srgbClr val="55434D"/>
                      </a:solidFill>
                      <a:prstDash val="solid"/>
                      <a:round/>
                      <a:headEnd type="none" w="med" len="med"/>
                      <a:tailEnd type="none" w="med" len="med"/>
                    </a:lnR>
                    <a:lnT w="12700" cap="flat" cmpd="sng" algn="ctr">
                      <a:solidFill>
                        <a:srgbClr val="5B4651"/>
                      </a:solidFill>
                      <a:prstDash val="solid"/>
                      <a:round/>
                      <a:headEnd type="none" w="med" len="med"/>
                      <a:tailEnd type="none" w="med" len="med"/>
                    </a:lnT>
                    <a:lnB w="12700" cap="flat" cmpd="sng" algn="ctr">
                      <a:solidFill>
                        <a:srgbClr val="55434D"/>
                      </a:solidFill>
                      <a:prstDash val="solid"/>
                      <a:round/>
                      <a:headEnd type="none" w="med" len="med"/>
                      <a:tailEnd type="none" w="med" len="med"/>
                    </a:lnB>
                    <a:solidFill>
                      <a:srgbClr val="26101D"/>
                    </a:solidFill>
                  </a:tcPr>
                </a:tc>
                <a:tc>
                  <a:txBody>
                    <a:bodyPr/>
                    <a:lstStyle/>
                    <a:p>
                      <a:pPr marL="0" indent="0">
                        <a:lnSpc>
                          <a:spcPts val="1659"/>
                        </a:lnSpc>
                        <a:buNone/>
                      </a:pPr>
                      <a:r>
                        <a:rPr lang="en-US" sz="1185" dirty="0">
                          <a:solidFill>
                            <a:srgbClr val="FFF1F5"/>
                          </a:solidFill>
                          <a:latin typeface="Arial" pitchFamily="34" charset="0"/>
                          <a:ea typeface="Arial" pitchFamily="34" charset="-122"/>
                          <a:cs typeface="Arial" pitchFamily="34" charset="-120"/>
                        </a:rPr>
                        <a:t>Number of customer ratings</a:t>
                      </a:r>
                      <a:endParaRPr lang="en-US" sz="1185" dirty="0">
                        <a:latin typeface="Arial" charset="0"/>
                        <a:ea typeface="Arial" charset="0"/>
                        <a:cs typeface="Arial" charset="0"/>
                      </a:endParaRPr>
                    </a:p>
                  </a:txBody>
                  <a:tcPr marL="52673" marR="52673" marT="52673" marB="52673">
                    <a:lnL w="12700" cap="flat" cmpd="sng" algn="ctr">
                      <a:solidFill>
                        <a:srgbClr val="55434D"/>
                      </a:solidFill>
                      <a:prstDash val="solid"/>
                      <a:round/>
                      <a:headEnd type="none" w="med" len="med"/>
                      <a:tailEnd type="none" w="med" len="med"/>
                    </a:lnL>
                    <a:lnR w="12700" cap="flat" cmpd="sng" algn="ctr">
                      <a:solidFill>
                        <a:srgbClr val="55434D"/>
                      </a:solidFill>
                      <a:prstDash val="solid"/>
                      <a:round/>
                      <a:headEnd type="none" w="med" len="med"/>
                      <a:tailEnd type="none" w="med" len="med"/>
                    </a:lnR>
                    <a:lnT w="12700" cap="flat" cmpd="sng" algn="ctr">
                      <a:solidFill>
                        <a:srgbClr val="5B4651"/>
                      </a:solidFill>
                      <a:prstDash val="solid"/>
                      <a:round/>
                      <a:headEnd type="none" w="med" len="med"/>
                      <a:tailEnd type="none" w="med" len="med"/>
                    </a:lnT>
                    <a:lnB w="12700" cap="flat" cmpd="sng" algn="ctr">
                      <a:solidFill>
                        <a:srgbClr val="55434D"/>
                      </a:solidFill>
                      <a:prstDash val="solid"/>
                      <a:round/>
                      <a:headEnd type="none" w="med" len="med"/>
                      <a:tailEnd type="none" w="med" len="med"/>
                    </a:lnB>
                    <a:solidFill>
                      <a:srgbClr val="26101D"/>
                    </a:solidFill>
                  </a:tcPr>
                </a:tc>
                <a:tc>
                  <a:txBody>
                    <a:bodyPr/>
                    <a:lstStyle/>
                    <a:p>
                      <a:pPr marL="0" indent="0" algn="r">
                        <a:lnSpc>
                          <a:spcPts val="1659"/>
                        </a:lnSpc>
                        <a:buNone/>
                      </a:pPr>
                      <a:r>
                        <a:rPr lang="en-US" sz="1185" dirty="0">
                          <a:solidFill>
                            <a:srgbClr val="FFF1F5"/>
                          </a:solidFill>
                          <a:latin typeface="Arial" pitchFamily="34" charset="0"/>
                          <a:ea typeface="Arial" pitchFamily="34" charset="-122"/>
                          <a:cs typeface="Arial" pitchFamily="34" charset="-120"/>
                        </a:rPr>
                        <a:t>Number</a:t>
                      </a:r>
                      <a:endParaRPr lang="en-US" sz="1185" dirty="0">
                        <a:latin typeface="Arial" charset="0"/>
                        <a:ea typeface="Arial" charset="0"/>
                        <a:cs typeface="Arial" charset="0"/>
                      </a:endParaRPr>
                    </a:p>
                  </a:txBody>
                  <a:tcPr marL="52673" marR="52673" marT="52673" marB="52673">
                    <a:lnL w="12700" cap="flat" cmpd="sng" algn="ctr">
                      <a:solidFill>
                        <a:srgbClr val="55434D"/>
                      </a:solidFill>
                      <a:prstDash val="solid"/>
                      <a:round/>
                      <a:headEnd type="none" w="med" len="med"/>
                      <a:tailEnd type="none" w="med" len="med"/>
                    </a:lnL>
                    <a:lnR w="12700" cap="flat" cmpd="sng" algn="ctr">
                      <a:solidFill>
                        <a:srgbClr val="55434D"/>
                      </a:solidFill>
                      <a:prstDash val="solid"/>
                      <a:round/>
                      <a:headEnd type="none" w="med" len="med"/>
                      <a:tailEnd type="none" w="med" len="med"/>
                    </a:lnR>
                    <a:lnT w="12700" cap="flat" cmpd="sng" algn="ctr">
                      <a:solidFill>
                        <a:srgbClr val="5B4651"/>
                      </a:solidFill>
                      <a:prstDash val="solid"/>
                      <a:round/>
                      <a:headEnd type="none" w="med" len="med"/>
                      <a:tailEnd type="none" w="med" len="med"/>
                    </a:lnT>
                    <a:lnB w="12700" cap="flat" cmpd="sng" algn="ctr">
                      <a:solidFill>
                        <a:srgbClr val="55434D"/>
                      </a:solidFill>
                      <a:prstDash val="solid"/>
                      <a:round/>
                      <a:headEnd type="none" w="med" len="med"/>
                      <a:tailEnd type="none" w="med" len="med"/>
                    </a:lnB>
                    <a:solidFill>
                      <a:srgbClr val="26101D"/>
                    </a:solidFill>
                  </a:tcPr>
                </a:tc>
                <a:extLst>
                  <a:ext uri="{0D108BD9-81ED-4DB2-BD59-A6C34878D82A}">
                    <a16:rowId xmlns:a16="http://schemas.microsoft.com/office/drawing/2014/main" val="10008"/>
                  </a:ext>
                </a:extLst>
              </a:tr>
            </a:tbl>
          </a:graphicData>
        </a:graphic>
      </p:graphicFrame>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8598"/>
                </a:solidFill>
                <a:latin typeface="Arial" pitchFamily="34" charset="0"/>
                <a:ea typeface="Arial" pitchFamily="34" charset="-122"/>
                <a:cs typeface="Arial" pitchFamily="34" charset="-120"/>
              </a:rPr>
              <a:t>Myntra Beauty Analytics | Power BI Project</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08598"/>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0A16"/>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50" dirty="0">
                <a:solidFill>
                  <a:srgbClr val="FFA6C1"/>
                </a:solidFill>
                <a:latin typeface="Arial" pitchFamily="34" charset="0"/>
                <a:ea typeface="Arial" pitchFamily="34" charset="-122"/>
                <a:cs typeface="Arial" pitchFamily="34" charset="-120"/>
              </a:rPr>
              <a:t>DATA PREPARATION</a:t>
            </a:r>
            <a:endParaRPr lang="en-US" sz="1200" dirty="0"/>
          </a:p>
        </p:txBody>
      </p:sp>
      <p:sp>
        <p:nvSpPr>
          <p:cNvPr id="3" name="Text 1"/>
          <p:cNvSpPr>
            <a:spLocks noGrp="1"/>
          </p:cNvSpPr>
          <p:nvPr>
            <p:ph type="title"/>
          </p:nvPr>
        </p:nvSpPr>
        <p:spPr>
          <a:xfrm>
            <a:off x="812800" y="1000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4F81"/>
                </a:solidFill>
                <a:latin typeface="Arial" pitchFamily="34" charset="0"/>
                <a:ea typeface="Arial" pitchFamily="34" charset="-122"/>
                <a:cs typeface="Arial" pitchFamily="34" charset="-120"/>
              </a:rPr>
              <a:t>Data Collection &amp; Cleaning</a:t>
            </a:r>
            <a:endParaRPr lang="en-US" sz="3200" dirty="0"/>
          </a:p>
        </p:txBody>
      </p:sp>
      <p:sp>
        <p:nvSpPr>
          <p:cNvPr id="4" name="Shape 2"/>
          <p:cNvSpPr/>
          <p:nvPr/>
        </p:nvSpPr>
        <p:spPr>
          <a:xfrm>
            <a:off x="819150" y="1631851"/>
            <a:ext cx="5168900" cy="3519884"/>
          </a:xfrm>
          <a:prstGeom prst="roundRect">
            <a:avLst>
              <a:gd name="adj" fmla="val 2706"/>
            </a:avLst>
          </a:prstGeom>
          <a:solidFill>
            <a:srgbClr val="2E1423"/>
          </a:solidFill>
          <a:ln w="12700">
            <a:solidFill>
              <a:srgbClr val="4A2338"/>
            </a:solidFill>
            <a:prstDash val="solid"/>
          </a:ln>
        </p:spPr>
        <p:txBody>
          <a:bodyPr/>
          <a:lstStyle/>
          <a:p>
            <a:endParaRPr lang="en-IN"/>
          </a:p>
        </p:txBody>
      </p:sp>
      <p:sp>
        <p:nvSpPr>
          <p:cNvPr id="5" name="Text 3"/>
          <p:cNvSpPr/>
          <p:nvPr/>
        </p:nvSpPr>
        <p:spPr>
          <a:xfrm>
            <a:off x="1054100" y="1841401"/>
            <a:ext cx="483997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A6C1"/>
                </a:solidFill>
                <a:latin typeface="Arial" pitchFamily="34" charset="0"/>
                <a:ea typeface="Arial" pitchFamily="34" charset="-122"/>
                <a:cs typeface="Arial" pitchFamily="34" charset="-120"/>
              </a:rPr>
              <a:t>Data Collection</a:t>
            </a:r>
            <a:endParaRPr lang="en-US" sz="1600" dirty="0"/>
          </a:p>
        </p:txBody>
      </p:sp>
      <p:sp>
        <p:nvSpPr>
          <p:cNvPr id="6" name="Shape 4"/>
          <p:cNvSpPr/>
          <p:nvPr/>
        </p:nvSpPr>
        <p:spPr>
          <a:xfrm>
            <a:off x="1054100" y="2300982"/>
            <a:ext cx="254000" cy="254000"/>
          </a:xfrm>
          <a:prstGeom prst="roundRect">
            <a:avLst>
              <a:gd name="adj" fmla="val 50000"/>
            </a:avLst>
          </a:prstGeom>
          <a:solidFill>
            <a:srgbClr val="FFA6C1"/>
          </a:solidFill>
          <a:ln/>
        </p:spPr>
        <p:txBody>
          <a:bodyPr/>
          <a:lstStyle/>
          <a:p>
            <a:endParaRPr lang="en-IN"/>
          </a:p>
        </p:txBody>
      </p:sp>
      <p:pic>
        <p:nvPicPr>
          <p:cNvPr id="7" name="Image 0" descr="Check"/>
          <p:cNvPicPr>
            <a:picLocks noChangeAspect="1"/>
          </p:cNvPicPr>
          <p:nvPr/>
        </p:nvPicPr>
        <p:blipFill>
          <a:blip r:embed="rId3"/>
          <a:srcRect/>
          <a:stretch/>
        </p:blipFill>
        <p:spPr>
          <a:xfrm>
            <a:off x="1098550" y="2345432"/>
            <a:ext cx="165100" cy="165100"/>
          </a:xfrm>
          <a:prstGeom prst="rect">
            <a:avLst/>
          </a:prstGeom>
        </p:spPr>
      </p:pic>
      <p:sp>
        <p:nvSpPr>
          <p:cNvPr id="8" name="Text 5"/>
          <p:cNvSpPr/>
          <p:nvPr/>
        </p:nvSpPr>
        <p:spPr>
          <a:xfrm>
            <a:off x="1422400" y="2199481"/>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Category scraping</a:t>
            </a:r>
            <a:endParaRPr lang="en-US" sz="1300" dirty="0"/>
          </a:p>
        </p:txBody>
      </p:sp>
      <p:sp>
        <p:nvSpPr>
          <p:cNvPr id="9" name="Text 6"/>
          <p:cNvSpPr/>
          <p:nvPr/>
        </p:nvSpPr>
        <p:spPr>
          <a:xfrm>
            <a:off x="1422400" y="2443262"/>
            <a:ext cx="44606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Playwright reads up to 10 pages per category</a:t>
            </a:r>
            <a:endParaRPr lang="en-US" sz="1200" dirty="0"/>
          </a:p>
        </p:txBody>
      </p:sp>
      <p:sp>
        <p:nvSpPr>
          <p:cNvPr id="10" name="Shape 7"/>
          <p:cNvSpPr/>
          <p:nvPr/>
        </p:nvSpPr>
        <p:spPr>
          <a:xfrm>
            <a:off x="1054100" y="2872383"/>
            <a:ext cx="254000" cy="254000"/>
          </a:xfrm>
          <a:prstGeom prst="roundRect">
            <a:avLst>
              <a:gd name="adj" fmla="val 50000"/>
            </a:avLst>
          </a:prstGeom>
          <a:solidFill>
            <a:srgbClr val="FFA6C1"/>
          </a:solidFill>
          <a:ln/>
        </p:spPr>
        <p:txBody>
          <a:bodyPr/>
          <a:lstStyle/>
          <a:p>
            <a:endParaRPr lang="en-IN"/>
          </a:p>
        </p:txBody>
      </p:sp>
      <p:pic>
        <p:nvPicPr>
          <p:cNvPr id="11" name="Image 1" descr="Check"/>
          <p:cNvPicPr>
            <a:picLocks noChangeAspect="1"/>
          </p:cNvPicPr>
          <p:nvPr/>
        </p:nvPicPr>
        <p:blipFill>
          <a:blip r:embed="rId3"/>
          <a:srcRect/>
          <a:stretch/>
        </p:blipFill>
        <p:spPr>
          <a:xfrm>
            <a:off x="1098550" y="2916833"/>
            <a:ext cx="165100" cy="165100"/>
          </a:xfrm>
          <a:prstGeom prst="rect">
            <a:avLst/>
          </a:prstGeom>
        </p:spPr>
      </p:pic>
      <p:sp>
        <p:nvSpPr>
          <p:cNvPr id="12" name="Text 8"/>
          <p:cNvSpPr/>
          <p:nvPr/>
        </p:nvSpPr>
        <p:spPr>
          <a:xfrm>
            <a:off x="1422400" y="2770882"/>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Block-safe crawling</a:t>
            </a:r>
            <a:endParaRPr lang="en-US" sz="1300" dirty="0"/>
          </a:p>
        </p:txBody>
      </p:sp>
      <p:sp>
        <p:nvSpPr>
          <p:cNvPr id="13" name="Text 9"/>
          <p:cNvSpPr/>
          <p:nvPr/>
        </p:nvSpPr>
        <p:spPr>
          <a:xfrm>
            <a:off x="1422400" y="3014663"/>
            <a:ext cx="44606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Retries, random delays and a warm-up visit</a:t>
            </a:r>
            <a:endParaRPr lang="en-US" sz="1200" dirty="0"/>
          </a:p>
        </p:txBody>
      </p:sp>
      <p:sp>
        <p:nvSpPr>
          <p:cNvPr id="14" name="Shape 10"/>
          <p:cNvSpPr/>
          <p:nvPr/>
        </p:nvSpPr>
        <p:spPr>
          <a:xfrm>
            <a:off x="1054100" y="3443784"/>
            <a:ext cx="254000" cy="254000"/>
          </a:xfrm>
          <a:prstGeom prst="roundRect">
            <a:avLst>
              <a:gd name="adj" fmla="val 50000"/>
            </a:avLst>
          </a:prstGeom>
          <a:solidFill>
            <a:srgbClr val="FFA6C1"/>
          </a:solidFill>
          <a:ln/>
        </p:spPr>
        <p:txBody>
          <a:bodyPr/>
          <a:lstStyle/>
          <a:p>
            <a:endParaRPr lang="en-IN"/>
          </a:p>
        </p:txBody>
      </p:sp>
      <p:pic>
        <p:nvPicPr>
          <p:cNvPr id="15" name="Image 2" descr="Check"/>
          <p:cNvPicPr>
            <a:picLocks noChangeAspect="1"/>
          </p:cNvPicPr>
          <p:nvPr/>
        </p:nvPicPr>
        <p:blipFill>
          <a:blip r:embed="rId3"/>
          <a:srcRect/>
          <a:stretch/>
        </p:blipFill>
        <p:spPr>
          <a:xfrm>
            <a:off x="1098550" y="3488234"/>
            <a:ext cx="165100" cy="165100"/>
          </a:xfrm>
          <a:prstGeom prst="rect">
            <a:avLst/>
          </a:prstGeom>
        </p:spPr>
      </p:pic>
      <p:sp>
        <p:nvSpPr>
          <p:cNvPr id="16" name="Text 11"/>
          <p:cNvSpPr/>
          <p:nvPr/>
        </p:nvSpPr>
        <p:spPr>
          <a:xfrm>
            <a:off x="1422400" y="3342283"/>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Variant crawler</a:t>
            </a:r>
            <a:endParaRPr lang="en-US" sz="1300" dirty="0"/>
          </a:p>
        </p:txBody>
      </p:sp>
      <p:sp>
        <p:nvSpPr>
          <p:cNvPr id="17" name="Text 12"/>
          <p:cNvSpPr/>
          <p:nvPr/>
        </p:nvSpPr>
        <p:spPr>
          <a:xfrm>
            <a:off x="1422400" y="3586063"/>
            <a:ext cx="44606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Resumable run for size and colour variants</a:t>
            </a:r>
            <a:endParaRPr lang="en-US" sz="1200" dirty="0"/>
          </a:p>
        </p:txBody>
      </p:sp>
      <p:sp>
        <p:nvSpPr>
          <p:cNvPr id="18" name="Shape 13"/>
          <p:cNvSpPr/>
          <p:nvPr/>
        </p:nvSpPr>
        <p:spPr>
          <a:xfrm>
            <a:off x="1054100" y="4015184"/>
            <a:ext cx="254000" cy="254000"/>
          </a:xfrm>
          <a:prstGeom prst="roundRect">
            <a:avLst>
              <a:gd name="adj" fmla="val 50000"/>
            </a:avLst>
          </a:prstGeom>
          <a:solidFill>
            <a:srgbClr val="FFA6C1"/>
          </a:solidFill>
          <a:ln/>
        </p:spPr>
        <p:txBody>
          <a:bodyPr/>
          <a:lstStyle/>
          <a:p>
            <a:endParaRPr lang="en-IN"/>
          </a:p>
        </p:txBody>
      </p:sp>
      <p:pic>
        <p:nvPicPr>
          <p:cNvPr id="19" name="Image 3" descr="Check"/>
          <p:cNvPicPr>
            <a:picLocks noChangeAspect="1"/>
          </p:cNvPicPr>
          <p:nvPr/>
        </p:nvPicPr>
        <p:blipFill>
          <a:blip r:embed="rId3"/>
          <a:srcRect/>
          <a:stretch/>
        </p:blipFill>
        <p:spPr>
          <a:xfrm>
            <a:off x="1098550" y="4059634"/>
            <a:ext cx="165100" cy="165100"/>
          </a:xfrm>
          <a:prstGeom prst="rect">
            <a:avLst/>
          </a:prstGeom>
        </p:spPr>
      </p:pic>
      <p:sp>
        <p:nvSpPr>
          <p:cNvPr id="20" name="Text 14"/>
          <p:cNvSpPr/>
          <p:nvPr/>
        </p:nvSpPr>
        <p:spPr>
          <a:xfrm>
            <a:off x="1422400" y="3913684"/>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Product detail fetch</a:t>
            </a:r>
            <a:endParaRPr lang="en-US" sz="1300" dirty="0"/>
          </a:p>
        </p:txBody>
      </p:sp>
      <p:sp>
        <p:nvSpPr>
          <p:cNvPr id="21" name="Text 15"/>
          <p:cNvSpPr/>
          <p:nvPr/>
        </p:nvSpPr>
        <p:spPr>
          <a:xfrm>
            <a:off x="1422400" y="4157464"/>
            <a:ext cx="44606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Optional deep scrape of materials and sellers</a:t>
            </a:r>
            <a:endParaRPr lang="en-US" sz="1200" dirty="0"/>
          </a:p>
        </p:txBody>
      </p:sp>
      <p:sp>
        <p:nvSpPr>
          <p:cNvPr id="22" name="Shape 16"/>
          <p:cNvSpPr/>
          <p:nvPr/>
        </p:nvSpPr>
        <p:spPr>
          <a:xfrm>
            <a:off x="1054100" y="4586585"/>
            <a:ext cx="254000" cy="254000"/>
          </a:xfrm>
          <a:prstGeom prst="roundRect">
            <a:avLst>
              <a:gd name="adj" fmla="val 50000"/>
            </a:avLst>
          </a:prstGeom>
          <a:solidFill>
            <a:srgbClr val="FFA6C1"/>
          </a:solidFill>
          <a:ln/>
        </p:spPr>
        <p:txBody>
          <a:bodyPr/>
          <a:lstStyle/>
          <a:p>
            <a:endParaRPr lang="en-IN"/>
          </a:p>
        </p:txBody>
      </p:sp>
      <p:pic>
        <p:nvPicPr>
          <p:cNvPr id="23" name="Image 4" descr="Check"/>
          <p:cNvPicPr>
            <a:picLocks noChangeAspect="1"/>
          </p:cNvPicPr>
          <p:nvPr/>
        </p:nvPicPr>
        <p:blipFill>
          <a:blip r:embed="rId3"/>
          <a:srcRect/>
          <a:stretch/>
        </p:blipFill>
        <p:spPr>
          <a:xfrm>
            <a:off x="1098550" y="4631035"/>
            <a:ext cx="165100" cy="165100"/>
          </a:xfrm>
          <a:prstGeom prst="rect">
            <a:avLst/>
          </a:prstGeom>
        </p:spPr>
      </p:pic>
      <p:sp>
        <p:nvSpPr>
          <p:cNvPr id="24" name="Text 17"/>
          <p:cNvSpPr/>
          <p:nvPr/>
        </p:nvSpPr>
        <p:spPr>
          <a:xfrm>
            <a:off x="1422400" y="4485084"/>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Structured export</a:t>
            </a:r>
            <a:endParaRPr lang="en-US" sz="1300" dirty="0"/>
          </a:p>
        </p:txBody>
      </p:sp>
      <p:sp>
        <p:nvSpPr>
          <p:cNvPr id="25" name="Text 18"/>
          <p:cNvSpPr/>
          <p:nvPr/>
        </p:nvSpPr>
        <p:spPr>
          <a:xfrm>
            <a:off x="1422400" y="4728865"/>
            <a:ext cx="44606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CSV and JSONL saved per category</a:t>
            </a:r>
            <a:endParaRPr lang="en-US" sz="1200" dirty="0"/>
          </a:p>
        </p:txBody>
      </p:sp>
      <p:sp>
        <p:nvSpPr>
          <p:cNvPr id="26" name="Shape 19"/>
          <p:cNvSpPr/>
          <p:nvPr/>
        </p:nvSpPr>
        <p:spPr>
          <a:xfrm>
            <a:off x="6203950" y="1631851"/>
            <a:ext cx="5168900" cy="3519884"/>
          </a:xfrm>
          <a:prstGeom prst="roundRect">
            <a:avLst>
              <a:gd name="adj" fmla="val 2706"/>
            </a:avLst>
          </a:prstGeom>
          <a:solidFill>
            <a:srgbClr val="2E1423"/>
          </a:solidFill>
          <a:ln w="12700">
            <a:solidFill>
              <a:srgbClr val="4A2338"/>
            </a:solidFill>
            <a:prstDash val="solid"/>
          </a:ln>
        </p:spPr>
        <p:txBody>
          <a:bodyPr/>
          <a:lstStyle/>
          <a:p>
            <a:endParaRPr lang="en-IN"/>
          </a:p>
        </p:txBody>
      </p:sp>
      <p:sp>
        <p:nvSpPr>
          <p:cNvPr id="27" name="Text 20"/>
          <p:cNvSpPr/>
          <p:nvPr/>
        </p:nvSpPr>
        <p:spPr>
          <a:xfrm>
            <a:off x="6438900" y="1841401"/>
            <a:ext cx="483997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4F81"/>
                </a:solidFill>
                <a:latin typeface="Arial" pitchFamily="34" charset="0"/>
                <a:ea typeface="Arial" pitchFamily="34" charset="-122"/>
                <a:cs typeface="Arial" pitchFamily="34" charset="-120"/>
              </a:rPr>
              <a:t>Cleaning &amp; Transformation</a:t>
            </a:r>
            <a:endParaRPr lang="en-US" sz="1600" dirty="0"/>
          </a:p>
        </p:txBody>
      </p:sp>
      <p:sp>
        <p:nvSpPr>
          <p:cNvPr id="28" name="Shape 21"/>
          <p:cNvSpPr/>
          <p:nvPr/>
        </p:nvSpPr>
        <p:spPr>
          <a:xfrm>
            <a:off x="6438900" y="2300982"/>
            <a:ext cx="254000" cy="254000"/>
          </a:xfrm>
          <a:prstGeom prst="roundRect">
            <a:avLst>
              <a:gd name="adj" fmla="val 50000"/>
            </a:avLst>
          </a:prstGeom>
          <a:solidFill>
            <a:srgbClr val="FF4F81"/>
          </a:solidFill>
          <a:ln/>
        </p:spPr>
        <p:txBody>
          <a:bodyPr/>
          <a:lstStyle/>
          <a:p>
            <a:endParaRPr lang="en-IN"/>
          </a:p>
        </p:txBody>
      </p:sp>
      <p:pic>
        <p:nvPicPr>
          <p:cNvPr id="29" name="Image 5" descr="Check"/>
          <p:cNvPicPr>
            <a:picLocks noChangeAspect="1"/>
          </p:cNvPicPr>
          <p:nvPr/>
        </p:nvPicPr>
        <p:blipFill>
          <a:blip r:embed="rId3"/>
          <a:srcRect/>
          <a:stretch/>
        </p:blipFill>
        <p:spPr>
          <a:xfrm>
            <a:off x="6483350" y="2345432"/>
            <a:ext cx="165100" cy="165100"/>
          </a:xfrm>
          <a:prstGeom prst="rect">
            <a:avLst/>
          </a:prstGeom>
        </p:spPr>
      </p:pic>
      <p:sp>
        <p:nvSpPr>
          <p:cNvPr id="30" name="Text 22"/>
          <p:cNvSpPr/>
          <p:nvPr/>
        </p:nvSpPr>
        <p:spPr>
          <a:xfrm>
            <a:off x="6807200" y="2199481"/>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Recomputed discount %</a:t>
            </a:r>
            <a:endParaRPr lang="en-US" sz="1300" dirty="0"/>
          </a:p>
        </p:txBody>
      </p:sp>
      <p:sp>
        <p:nvSpPr>
          <p:cNvPr id="31" name="Text 23"/>
          <p:cNvSpPr/>
          <p:nvPr/>
        </p:nvSpPr>
        <p:spPr>
          <a:xfrm>
            <a:off x="6807200" y="2443262"/>
            <a:ext cx="44606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(MRP − price) ÷ MRP replaces corrupted values</a:t>
            </a:r>
            <a:endParaRPr lang="en-US" sz="1200" dirty="0"/>
          </a:p>
        </p:txBody>
      </p:sp>
      <p:sp>
        <p:nvSpPr>
          <p:cNvPr id="32" name="Shape 24"/>
          <p:cNvSpPr/>
          <p:nvPr/>
        </p:nvSpPr>
        <p:spPr>
          <a:xfrm>
            <a:off x="6438900" y="2872383"/>
            <a:ext cx="254000" cy="254000"/>
          </a:xfrm>
          <a:prstGeom prst="roundRect">
            <a:avLst>
              <a:gd name="adj" fmla="val 50000"/>
            </a:avLst>
          </a:prstGeom>
          <a:solidFill>
            <a:srgbClr val="FF4F81"/>
          </a:solidFill>
          <a:ln/>
        </p:spPr>
        <p:txBody>
          <a:bodyPr/>
          <a:lstStyle/>
          <a:p>
            <a:endParaRPr lang="en-IN"/>
          </a:p>
        </p:txBody>
      </p:sp>
      <p:pic>
        <p:nvPicPr>
          <p:cNvPr id="33" name="Image 6" descr="Check"/>
          <p:cNvPicPr>
            <a:picLocks noChangeAspect="1"/>
          </p:cNvPicPr>
          <p:nvPr/>
        </p:nvPicPr>
        <p:blipFill>
          <a:blip r:embed="rId3"/>
          <a:srcRect/>
          <a:stretch/>
        </p:blipFill>
        <p:spPr>
          <a:xfrm>
            <a:off x="6483350" y="2916833"/>
            <a:ext cx="165100" cy="165100"/>
          </a:xfrm>
          <a:prstGeom prst="rect">
            <a:avLst/>
          </a:prstGeom>
        </p:spPr>
      </p:pic>
      <p:sp>
        <p:nvSpPr>
          <p:cNvPr id="34" name="Text 25"/>
          <p:cNvSpPr/>
          <p:nvPr/>
        </p:nvSpPr>
        <p:spPr>
          <a:xfrm>
            <a:off x="6807200" y="2770882"/>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Separated unrated products</a:t>
            </a:r>
            <a:endParaRPr lang="en-US" sz="1300" dirty="0"/>
          </a:p>
        </p:txBody>
      </p:sp>
      <p:sp>
        <p:nvSpPr>
          <p:cNvPr id="35" name="Text 26"/>
          <p:cNvSpPr/>
          <p:nvPr/>
        </p:nvSpPr>
        <p:spPr>
          <a:xfrm>
            <a:off x="6807200" y="3014663"/>
            <a:ext cx="44606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4,443 listings kept out of rating averages</a:t>
            </a:r>
            <a:endParaRPr lang="en-US" sz="1200" dirty="0"/>
          </a:p>
        </p:txBody>
      </p:sp>
      <p:sp>
        <p:nvSpPr>
          <p:cNvPr id="36" name="Shape 27"/>
          <p:cNvSpPr/>
          <p:nvPr/>
        </p:nvSpPr>
        <p:spPr>
          <a:xfrm>
            <a:off x="6438900" y="3443784"/>
            <a:ext cx="254000" cy="254000"/>
          </a:xfrm>
          <a:prstGeom prst="roundRect">
            <a:avLst>
              <a:gd name="adj" fmla="val 50000"/>
            </a:avLst>
          </a:prstGeom>
          <a:solidFill>
            <a:srgbClr val="FF4F81"/>
          </a:solidFill>
          <a:ln/>
        </p:spPr>
        <p:txBody>
          <a:bodyPr/>
          <a:lstStyle/>
          <a:p>
            <a:endParaRPr lang="en-IN"/>
          </a:p>
        </p:txBody>
      </p:sp>
      <p:pic>
        <p:nvPicPr>
          <p:cNvPr id="37" name="Image 7" descr="Check"/>
          <p:cNvPicPr>
            <a:picLocks noChangeAspect="1"/>
          </p:cNvPicPr>
          <p:nvPr/>
        </p:nvPicPr>
        <p:blipFill>
          <a:blip r:embed="rId3"/>
          <a:srcRect/>
          <a:stretch/>
        </p:blipFill>
        <p:spPr>
          <a:xfrm>
            <a:off x="6483350" y="3488234"/>
            <a:ext cx="165100" cy="165100"/>
          </a:xfrm>
          <a:prstGeom prst="rect">
            <a:avLst/>
          </a:prstGeom>
        </p:spPr>
      </p:pic>
      <p:sp>
        <p:nvSpPr>
          <p:cNvPr id="38" name="Text 28"/>
          <p:cNvSpPr/>
          <p:nvPr/>
        </p:nvSpPr>
        <p:spPr>
          <a:xfrm>
            <a:off x="6807200" y="3342283"/>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Checked duplicate records</a:t>
            </a:r>
            <a:endParaRPr lang="en-US" sz="1300" dirty="0"/>
          </a:p>
        </p:txBody>
      </p:sp>
      <p:sp>
        <p:nvSpPr>
          <p:cNvPr id="39" name="Text 29"/>
          <p:cNvSpPr/>
          <p:nvPr/>
        </p:nvSpPr>
        <p:spPr>
          <a:xfrm>
            <a:off x="6807200" y="3586063"/>
            <a:ext cx="44606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All 18,908 product IDs are unique</a:t>
            </a:r>
            <a:endParaRPr lang="en-US" sz="1200" dirty="0"/>
          </a:p>
        </p:txBody>
      </p:sp>
      <p:sp>
        <p:nvSpPr>
          <p:cNvPr id="40" name="Shape 30"/>
          <p:cNvSpPr/>
          <p:nvPr/>
        </p:nvSpPr>
        <p:spPr>
          <a:xfrm>
            <a:off x="6438900" y="4015184"/>
            <a:ext cx="254000" cy="254000"/>
          </a:xfrm>
          <a:prstGeom prst="roundRect">
            <a:avLst>
              <a:gd name="adj" fmla="val 50000"/>
            </a:avLst>
          </a:prstGeom>
          <a:solidFill>
            <a:srgbClr val="FF4F81"/>
          </a:solidFill>
          <a:ln/>
        </p:spPr>
        <p:txBody>
          <a:bodyPr/>
          <a:lstStyle/>
          <a:p>
            <a:endParaRPr lang="en-IN"/>
          </a:p>
        </p:txBody>
      </p:sp>
      <p:pic>
        <p:nvPicPr>
          <p:cNvPr id="41" name="Image 8" descr="Check"/>
          <p:cNvPicPr>
            <a:picLocks noChangeAspect="1"/>
          </p:cNvPicPr>
          <p:nvPr/>
        </p:nvPicPr>
        <p:blipFill>
          <a:blip r:embed="rId3"/>
          <a:srcRect/>
          <a:stretch/>
        </p:blipFill>
        <p:spPr>
          <a:xfrm>
            <a:off x="6483350" y="4059634"/>
            <a:ext cx="165100" cy="165100"/>
          </a:xfrm>
          <a:prstGeom prst="rect">
            <a:avLst/>
          </a:prstGeom>
        </p:spPr>
      </p:pic>
      <p:sp>
        <p:nvSpPr>
          <p:cNvPr id="42" name="Text 31"/>
          <p:cNvSpPr/>
          <p:nvPr/>
        </p:nvSpPr>
        <p:spPr>
          <a:xfrm>
            <a:off x="6807200" y="3913684"/>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Created bands &amp; levels</a:t>
            </a:r>
            <a:endParaRPr lang="en-US" sz="1300" dirty="0"/>
          </a:p>
        </p:txBody>
      </p:sp>
      <p:sp>
        <p:nvSpPr>
          <p:cNvPr id="43" name="Text 32"/>
          <p:cNvSpPr/>
          <p:nvPr/>
        </p:nvSpPr>
        <p:spPr>
          <a:xfrm>
            <a:off x="6807200" y="4157464"/>
            <a:ext cx="44606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Price bands, discount and rating levels</a:t>
            </a:r>
            <a:endParaRPr lang="en-US" sz="1200" dirty="0"/>
          </a:p>
        </p:txBody>
      </p:sp>
      <p:sp>
        <p:nvSpPr>
          <p:cNvPr id="44" name="Shape 33"/>
          <p:cNvSpPr/>
          <p:nvPr/>
        </p:nvSpPr>
        <p:spPr>
          <a:xfrm>
            <a:off x="6438900" y="4586585"/>
            <a:ext cx="254000" cy="254000"/>
          </a:xfrm>
          <a:prstGeom prst="roundRect">
            <a:avLst>
              <a:gd name="adj" fmla="val 50000"/>
            </a:avLst>
          </a:prstGeom>
          <a:solidFill>
            <a:srgbClr val="FF4F81"/>
          </a:solidFill>
          <a:ln/>
        </p:spPr>
        <p:txBody>
          <a:bodyPr/>
          <a:lstStyle/>
          <a:p>
            <a:endParaRPr lang="en-IN"/>
          </a:p>
        </p:txBody>
      </p:sp>
      <p:pic>
        <p:nvPicPr>
          <p:cNvPr id="45" name="Image 9" descr="Check"/>
          <p:cNvPicPr>
            <a:picLocks noChangeAspect="1"/>
          </p:cNvPicPr>
          <p:nvPr/>
        </p:nvPicPr>
        <p:blipFill>
          <a:blip r:embed="rId3"/>
          <a:srcRect/>
          <a:stretch/>
        </p:blipFill>
        <p:spPr>
          <a:xfrm>
            <a:off x="6483350" y="4631035"/>
            <a:ext cx="165100" cy="165100"/>
          </a:xfrm>
          <a:prstGeom prst="rect">
            <a:avLst/>
          </a:prstGeom>
        </p:spPr>
      </p:pic>
      <p:sp>
        <p:nvSpPr>
          <p:cNvPr id="46" name="Text 34"/>
          <p:cNvSpPr/>
          <p:nvPr/>
        </p:nvSpPr>
        <p:spPr>
          <a:xfrm>
            <a:off x="6807200" y="4485084"/>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Built report measures</a:t>
            </a:r>
            <a:endParaRPr lang="en-US" sz="1300" dirty="0"/>
          </a:p>
        </p:txBody>
      </p:sp>
      <p:sp>
        <p:nvSpPr>
          <p:cNvPr id="47" name="Text 35"/>
          <p:cNvSpPr/>
          <p:nvPr/>
        </p:nvSpPr>
        <p:spPr>
          <a:xfrm>
            <a:off x="6807200" y="4728865"/>
            <a:ext cx="44606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Average discount, 50%+ deals, rated above 4</a:t>
            </a:r>
            <a:endParaRPr lang="en-US" sz="1200" dirty="0"/>
          </a:p>
        </p:txBody>
      </p:sp>
      <p:sp>
        <p:nvSpPr>
          <p:cNvPr id="48" name="Text 3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8598"/>
                </a:solidFill>
                <a:latin typeface="Arial" pitchFamily="34" charset="0"/>
                <a:ea typeface="Arial" pitchFamily="34" charset="-122"/>
                <a:cs typeface="Arial" pitchFamily="34" charset="-120"/>
              </a:rPr>
              <a:t>Myntra Beauty Analytics | Power BI Project</a:t>
            </a:r>
            <a:endParaRPr lang="en-US" sz="1200" dirty="0"/>
          </a:p>
        </p:txBody>
      </p:sp>
      <p:sp>
        <p:nvSpPr>
          <p:cNvPr id="49" name="Text 3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08598"/>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0A16"/>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50" dirty="0">
                <a:solidFill>
                  <a:srgbClr val="FFA6C1"/>
                </a:solidFill>
                <a:latin typeface="Arial" pitchFamily="34" charset="0"/>
                <a:ea typeface="Arial" pitchFamily="34" charset="-122"/>
                <a:cs typeface="Arial" pitchFamily="34" charset="-120"/>
              </a:rPr>
              <a:t>TOOLS &amp; TECHNIQUES</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4F81"/>
                </a:solidFill>
                <a:latin typeface="Arial" pitchFamily="34" charset="0"/>
                <a:ea typeface="Arial" pitchFamily="34" charset="-122"/>
                <a:cs typeface="Arial" pitchFamily="34" charset="-120"/>
              </a:rPr>
              <a:t>Power BI Features Used</a:t>
            </a:r>
            <a:endParaRPr lang="en-US" sz="3200" dirty="0"/>
          </a:p>
        </p:txBody>
      </p:sp>
      <p:sp>
        <p:nvSpPr>
          <p:cNvPr id="4" name="Shape 2"/>
          <p:cNvSpPr/>
          <p:nvPr/>
        </p:nvSpPr>
        <p:spPr>
          <a:xfrm>
            <a:off x="819150" y="1682651"/>
            <a:ext cx="2514600" cy="723900"/>
          </a:xfrm>
          <a:prstGeom prst="roundRect">
            <a:avLst>
              <a:gd name="adj" fmla="val 11404"/>
            </a:avLst>
          </a:prstGeom>
          <a:solidFill>
            <a:srgbClr val="2E1423"/>
          </a:solidFill>
          <a:ln w="12700">
            <a:solidFill>
              <a:srgbClr val="4A2338"/>
            </a:solidFill>
            <a:prstDash val="solid"/>
          </a:ln>
        </p:spPr>
        <p:txBody>
          <a:bodyPr/>
          <a:lstStyle/>
          <a:p>
            <a:endParaRPr lang="en-IN"/>
          </a:p>
        </p:txBody>
      </p:sp>
      <p:sp>
        <p:nvSpPr>
          <p:cNvPr id="5" name="Text 3"/>
          <p:cNvSpPr/>
          <p:nvPr/>
        </p:nvSpPr>
        <p:spPr>
          <a:xfrm>
            <a:off x="977900" y="1866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4F81"/>
          </a:solidFill>
          <a:ln/>
        </p:spPr>
        <p:txBody>
          <a:bodyPr wrap="square" lIns="0" tIns="0" rIns="0" bIns="0" rtlCol="0" anchor="t">
            <a:normAutofit/>
          </a:bodyPr>
          <a:lstStyle/>
          <a:p>
            <a:pPr marL="0" indent="0" algn="ctr">
              <a:lnSpc>
                <a:spcPts val="2795"/>
              </a:lnSpc>
              <a:buNone/>
            </a:pPr>
            <a:r>
              <a:rPr lang="en-US" sz="1300" b="1" dirty="0">
                <a:solidFill>
                  <a:srgbClr val="1F0A16"/>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460500" y="1929011"/>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KPI Cards</a:t>
            </a:r>
            <a:endParaRPr lang="en-US" sz="1300" dirty="0"/>
          </a:p>
        </p:txBody>
      </p:sp>
      <p:sp>
        <p:nvSpPr>
          <p:cNvPr id="7" name="Shape 5"/>
          <p:cNvSpPr/>
          <p:nvPr/>
        </p:nvSpPr>
        <p:spPr>
          <a:xfrm>
            <a:off x="3498850" y="1682651"/>
            <a:ext cx="2514600" cy="723900"/>
          </a:xfrm>
          <a:prstGeom prst="roundRect">
            <a:avLst>
              <a:gd name="adj" fmla="val 11404"/>
            </a:avLst>
          </a:prstGeom>
          <a:solidFill>
            <a:srgbClr val="2E1423"/>
          </a:solidFill>
          <a:ln w="12700">
            <a:solidFill>
              <a:srgbClr val="4A2338"/>
            </a:solidFill>
            <a:prstDash val="solid"/>
          </a:ln>
        </p:spPr>
        <p:txBody>
          <a:bodyPr/>
          <a:lstStyle/>
          <a:p>
            <a:endParaRPr lang="en-IN"/>
          </a:p>
        </p:txBody>
      </p:sp>
      <p:sp>
        <p:nvSpPr>
          <p:cNvPr id="8" name="Text 6"/>
          <p:cNvSpPr/>
          <p:nvPr/>
        </p:nvSpPr>
        <p:spPr>
          <a:xfrm>
            <a:off x="3657600" y="1866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A6C1"/>
          </a:solidFill>
          <a:ln/>
        </p:spPr>
        <p:txBody>
          <a:bodyPr wrap="square" lIns="0" tIns="0" rIns="0" bIns="0" rtlCol="0" anchor="t">
            <a:normAutofit/>
          </a:bodyPr>
          <a:lstStyle/>
          <a:p>
            <a:pPr marL="0" indent="0" algn="ctr">
              <a:lnSpc>
                <a:spcPts val="2795"/>
              </a:lnSpc>
              <a:buNone/>
            </a:pPr>
            <a:r>
              <a:rPr lang="en-US" sz="1300" b="1" dirty="0">
                <a:solidFill>
                  <a:srgbClr val="1F0A16"/>
                </a:solidFill>
                <a:latin typeface="Arial" pitchFamily="34" charset="0"/>
                <a:ea typeface="Arial" pitchFamily="34" charset="-122"/>
                <a:cs typeface="Arial" pitchFamily="34" charset="-120"/>
              </a:rPr>
              <a:t>2</a:t>
            </a:r>
            <a:endParaRPr lang="en-US" sz="1300" dirty="0"/>
          </a:p>
        </p:txBody>
      </p:sp>
      <p:sp>
        <p:nvSpPr>
          <p:cNvPr id="9" name="Text 7"/>
          <p:cNvSpPr/>
          <p:nvPr/>
        </p:nvSpPr>
        <p:spPr>
          <a:xfrm>
            <a:off x="4140200" y="1929011"/>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Clustered Bar Charts</a:t>
            </a:r>
            <a:endParaRPr lang="en-US" sz="1300" dirty="0"/>
          </a:p>
        </p:txBody>
      </p:sp>
      <p:sp>
        <p:nvSpPr>
          <p:cNvPr id="10" name="Shape 8"/>
          <p:cNvSpPr/>
          <p:nvPr/>
        </p:nvSpPr>
        <p:spPr>
          <a:xfrm>
            <a:off x="6178550" y="1682651"/>
            <a:ext cx="2514600" cy="723900"/>
          </a:xfrm>
          <a:prstGeom prst="roundRect">
            <a:avLst>
              <a:gd name="adj" fmla="val 11404"/>
            </a:avLst>
          </a:prstGeom>
          <a:solidFill>
            <a:srgbClr val="2E1423"/>
          </a:solidFill>
          <a:ln w="12700">
            <a:solidFill>
              <a:srgbClr val="4A2338"/>
            </a:solidFill>
            <a:prstDash val="solid"/>
          </a:ln>
        </p:spPr>
        <p:txBody>
          <a:bodyPr/>
          <a:lstStyle/>
          <a:p>
            <a:endParaRPr lang="en-IN"/>
          </a:p>
        </p:txBody>
      </p:sp>
      <p:sp>
        <p:nvSpPr>
          <p:cNvPr id="11" name="Text 9"/>
          <p:cNvSpPr/>
          <p:nvPr/>
        </p:nvSpPr>
        <p:spPr>
          <a:xfrm>
            <a:off x="6337300" y="1866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A6C1"/>
          </a:solidFill>
          <a:ln/>
        </p:spPr>
        <p:txBody>
          <a:bodyPr wrap="square" lIns="0" tIns="0" rIns="0" bIns="0" rtlCol="0" anchor="t">
            <a:normAutofit/>
          </a:bodyPr>
          <a:lstStyle/>
          <a:p>
            <a:pPr marL="0" indent="0" algn="ctr">
              <a:lnSpc>
                <a:spcPts val="2795"/>
              </a:lnSpc>
              <a:buNone/>
            </a:pPr>
            <a:r>
              <a:rPr lang="en-US" sz="1300" b="1" dirty="0">
                <a:solidFill>
                  <a:srgbClr val="1F0A16"/>
                </a:solidFill>
                <a:latin typeface="Arial" pitchFamily="34" charset="0"/>
                <a:ea typeface="Arial" pitchFamily="34" charset="-122"/>
                <a:cs typeface="Arial" pitchFamily="34" charset="-120"/>
              </a:rPr>
              <a:t>3</a:t>
            </a:r>
            <a:endParaRPr lang="en-US" sz="1300" dirty="0"/>
          </a:p>
        </p:txBody>
      </p:sp>
      <p:sp>
        <p:nvSpPr>
          <p:cNvPr id="12" name="Text 10"/>
          <p:cNvSpPr/>
          <p:nvPr/>
        </p:nvSpPr>
        <p:spPr>
          <a:xfrm>
            <a:off x="6819900" y="1929011"/>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Column Charts</a:t>
            </a:r>
            <a:endParaRPr lang="en-US" sz="1300" dirty="0"/>
          </a:p>
        </p:txBody>
      </p:sp>
      <p:sp>
        <p:nvSpPr>
          <p:cNvPr id="13" name="Shape 11"/>
          <p:cNvSpPr/>
          <p:nvPr/>
        </p:nvSpPr>
        <p:spPr>
          <a:xfrm>
            <a:off x="8858250" y="1682651"/>
            <a:ext cx="2514600" cy="723900"/>
          </a:xfrm>
          <a:prstGeom prst="roundRect">
            <a:avLst>
              <a:gd name="adj" fmla="val 11404"/>
            </a:avLst>
          </a:prstGeom>
          <a:solidFill>
            <a:srgbClr val="2E1423"/>
          </a:solidFill>
          <a:ln w="12700">
            <a:solidFill>
              <a:srgbClr val="4A2338"/>
            </a:solidFill>
            <a:prstDash val="solid"/>
          </a:ln>
        </p:spPr>
        <p:txBody>
          <a:bodyPr/>
          <a:lstStyle/>
          <a:p>
            <a:endParaRPr lang="en-IN"/>
          </a:p>
        </p:txBody>
      </p:sp>
      <p:sp>
        <p:nvSpPr>
          <p:cNvPr id="14" name="Text 12"/>
          <p:cNvSpPr/>
          <p:nvPr/>
        </p:nvSpPr>
        <p:spPr>
          <a:xfrm>
            <a:off x="9017000" y="1866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4F81"/>
          </a:solidFill>
          <a:ln/>
        </p:spPr>
        <p:txBody>
          <a:bodyPr wrap="square" lIns="0" tIns="0" rIns="0" bIns="0" rtlCol="0" anchor="t">
            <a:normAutofit/>
          </a:bodyPr>
          <a:lstStyle/>
          <a:p>
            <a:pPr marL="0" indent="0" algn="ctr">
              <a:lnSpc>
                <a:spcPts val="2795"/>
              </a:lnSpc>
              <a:buNone/>
            </a:pPr>
            <a:r>
              <a:rPr lang="en-US" sz="1300" b="1" dirty="0">
                <a:solidFill>
                  <a:srgbClr val="1F0A16"/>
                </a:solidFill>
                <a:latin typeface="Arial" pitchFamily="34" charset="0"/>
                <a:ea typeface="Arial" pitchFamily="34" charset="-122"/>
                <a:cs typeface="Arial" pitchFamily="34" charset="-120"/>
              </a:rPr>
              <a:t>4</a:t>
            </a:r>
            <a:endParaRPr lang="en-US" sz="1300" dirty="0"/>
          </a:p>
        </p:txBody>
      </p:sp>
      <p:sp>
        <p:nvSpPr>
          <p:cNvPr id="15" name="Text 13"/>
          <p:cNvSpPr/>
          <p:nvPr/>
        </p:nvSpPr>
        <p:spPr>
          <a:xfrm>
            <a:off x="9499600" y="1929011"/>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Scatter Charts</a:t>
            </a:r>
            <a:endParaRPr lang="en-US" sz="1300" dirty="0"/>
          </a:p>
        </p:txBody>
      </p:sp>
      <p:sp>
        <p:nvSpPr>
          <p:cNvPr id="16" name="Shape 14"/>
          <p:cNvSpPr/>
          <p:nvPr/>
        </p:nvSpPr>
        <p:spPr>
          <a:xfrm>
            <a:off x="819150" y="2571651"/>
            <a:ext cx="2514600" cy="723900"/>
          </a:xfrm>
          <a:prstGeom prst="roundRect">
            <a:avLst>
              <a:gd name="adj" fmla="val 11404"/>
            </a:avLst>
          </a:prstGeom>
          <a:solidFill>
            <a:srgbClr val="2E1423"/>
          </a:solidFill>
          <a:ln w="12700">
            <a:solidFill>
              <a:srgbClr val="4A2338"/>
            </a:solidFill>
            <a:prstDash val="solid"/>
          </a:ln>
        </p:spPr>
        <p:txBody>
          <a:bodyPr/>
          <a:lstStyle/>
          <a:p>
            <a:endParaRPr lang="en-IN"/>
          </a:p>
        </p:txBody>
      </p:sp>
      <p:sp>
        <p:nvSpPr>
          <p:cNvPr id="17" name="Text 15"/>
          <p:cNvSpPr/>
          <p:nvPr/>
        </p:nvSpPr>
        <p:spPr>
          <a:xfrm>
            <a:off x="977900" y="2755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A6C1"/>
          </a:solidFill>
          <a:ln/>
        </p:spPr>
        <p:txBody>
          <a:bodyPr wrap="square" lIns="0" tIns="0" rIns="0" bIns="0" rtlCol="0" anchor="t">
            <a:normAutofit/>
          </a:bodyPr>
          <a:lstStyle/>
          <a:p>
            <a:pPr marL="0" indent="0" algn="ctr">
              <a:lnSpc>
                <a:spcPts val="2795"/>
              </a:lnSpc>
              <a:buNone/>
            </a:pPr>
            <a:r>
              <a:rPr lang="en-US" sz="1300" b="1" dirty="0">
                <a:solidFill>
                  <a:srgbClr val="1F0A16"/>
                </a:solidFill>
                <a:latin typeface="Arial" pitchFamily="34" charset="0"/>
                <a:ea typeface="Arial" pitchFamily="34" charset="-122"/>
                <a:cs typeface="Arial" pitchFamily="34" charset="-120"/>
              </a:rPr>
              <a:t>5</a:t>
            </a:r>
            <a:endParaRPr lang="en-US" sz="1300" dirty="0"/>
          </a:p>
        </p:txBody>
      </p:sp>
      <p:sp>
        <p:nvSpPr>
          <p:cNvPr id="18" name="Text 16"/>
          <p:cNvSpPr/>
          <p:nvPr/>
        </p:nvSpPr>
        <p:spPr>
          <a:xfrm>
            <a:off x="1460500" y="2818011"/>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100% Stacked Bars</a:t>
            </a:r>
            <a:endParaRPr lang="en-US" sz="1300" dirty="0"/>
          </a:p>
        </p:txBody>
      </p:sp>
      <p:sp>
        <p:nvSpPr>
          <p:cNvPr id="19" name="Shape 17"/>
          <p:cNvSpPr/>
          <p:nvPr/>
        </p:nvSpPr>
        <p:spPr>
          <a:xfrm>
            <a:off x="3498850" y="2571651"/>
            <a:ext cx="2514600" cy="723900"/>
          </a:xfrm>
          <a:prstGeom prst="roundRect">
            <a:avLst>
              <a:gd name="adj" fmla="val 11404"/>
            </a:avLst>
          </a:prstGeom>
          <a:solidFill>
            <a:srgbClr val="2E1423"/>
          </a:solidFill>
          <a:ln w="12700">
            <a:solidFill>
              <a:srgbClr val="4A2338"/>
            </a:solidFill>
            <a:prstDash val="solid"/>
          </a:ln>
        </p:spPr>
        <p:txBody>
          <a:bodyPr/>
          <a:lstStyle/>
          <a:p>
            <a:endParaRPr lang="en-IN"/>
          </a:p>
        </p:txBody>
      </p:sp>
      <p:sp>
        <p:nvSpPr>
          <p:cNvPr id="20" name="Text 18"/>
          <p:cNvSpPr/>
          <p:nvPr/>
        </p:nvSpPr>
        <p:spPr>
          <a:xfrm>
            <a:off x="3657600" y="2755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A6C1"/>
          </a:solidFill>
          <a:ln/>
        </p:spPr>
        <p:txBody>
          <a:bodyPr wrap="square" lIns="0" tIns="0" rIns="0" bIns="0" rtlCol="0" anchor="t">
            <a:normAutofit/>
          </a:bodyPr>
          <a:lstStyle/>
          <a:p>
            <a:pPr marL="0" indent="0" algn="ctr">
              <a:lnSpc>
                <a:spcPts val="2795"/>
              </a:lnSpc>
              <a:buNone/>
            </a:pPr>
            <a:r>
              <a:rPr lang="en-US" sz="1300" b="1" dirty="0">
                <a:solidFill>
                  <a:srgbClr val="1F0A16"/>
                </a:solidFill>
                <a:latin typeface="Arial" pitchFamily="34" charset="0"/>
                <a:ea typeface="Arial" pitchFamily="34" charset="-122"/>
                <a:cs typeface="Arial" pitchFamily="34" charset="-120"/>
              </a:rPr>
              <a:t>6</a:t>
            </a:r>
            <a:endParaRPr lang="en-US" sz="1300" dirty="0"/>
          </a:p>
        </p:txBody>
      </p:sp>
      <p:sp>
        <p:nvSpPr>
          <p:cNvPr id="21" name="Text 19"/>
          <p:cNvSpPr/>
          <p:nvPr/>
        </p:nvSpPr>
        <p:spPr>
          <a:xfrm>
            <a:off x="4140200" y="2818011"/>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Matrix Table</a:t>
            </a:r>
            <a:endParaRPr lang="en-US" sz="1300" dirty="0"/>
          </a:p>
        </p:txBody>
      </p:sp>
      <p:sp>
        <p:nvSpPr>
          <p:cNvPr id="22" name="Shape 20"/>
          <p:cNvSpPr/>
          <p:nvPr/>
        </p:nvSpPr>
        <p:spPr>
          <a:xfrm>
            <a:off x="6178550" y="2571651"/>
            <a:ext cx="2514600" cy="723900"/>
          </a:xfrm>
          <a:prstGeom prst="roundRect">
            <a:avLst>
              <a:gd name="adj" fmla="val 11404"/>
            </a:avLst>
          </a:prstGeom>
          <a:solidFill>
            <a:srgbClr val="2E1423"/>
          </a:solidFill>
          <a:ln w="12700">
            <a:solidFill>
              <a:srgbClr val="4A2338"/>
            </a:solidFill>
            <a:prstDash val="solid"/>
          </a:ln>
        </p:spPr>
        <p:txBody>
          <a:bodyPr/>
          <a:lstStyle/>
          <a:p>
            <a:endParaRPr lang="en-IN"/>
          </a:p>
        </p:txBody>
      </p:sp>
      <p:sp>
        <p:nvSpPr>
          <p:cNvPr id="23" name="Text 21"/>
          <p:cNvSpPr/>
          <p:nvPr/>
        </p:nvSpPr>
        <p:spPr>
          <a:xfrm>
            <a:off x="6337300" y="2755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4F81"/>
          </a:solidFill>
          <a:ln/>
        </p:spPr>
        <p:txBody>
          <a:bodyPr wrap="square" lIns="0" tIns="0" rIns="0" bIns="0" rtlCol="0" anchor="t">
            <a:normAutofit/>
          </a:bodyPr>
          <a:lstStyle/>
          <a:p>
            <a:pPr marL="0" indent="0" algn="ctr">
              <a:lnSpc>
                <a:spcPts val="2795"/>
              </a:lnSpc>
              <a:buNone/>
            </a:pPr>
            <a:r>
              <a:rPr lang="en-US" sz="1300" b="1" dirty="0">
                <a:solidFill>
                  <a:srgbClr val="1F0A16"/>
                </a:solidFill>
                <a:latin typeface="Arial" pitchFamily="34" charset="0"/>
                <a:ea typeface="Arial" pitchFamily="34" charset="-122"/>
                <a:cs typeface="Arial" pitchFamily="34" charset="-120"/>
              </a:rPr>
              <a:t>7</a:t>
            </a:r>
            <a:endParaRPr lang="en-US" sz="1300" dirty="0"/>
          </a:p>
        </p:txBody>
      </p:sp>
      <p:sp>
        <p:nvSpPr>
          <p:cNvPr id="24" name="Text 22"/>
          <p:cNvSpPr/>
          <p:nvPr/>
        </p:nvSpPr>
        <p:spPr>
          <a:xfrm>
            <a:off x="6819900" y="2818011"/>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Detail Table</a:t>
            </a:r>
            <a:endParaRPr lang="en-US" sz="1300" dirty="0"/>
          </a:p>
        </p:txBody>
      </p:sp>
      <p:sp>
        <p:nvSpPr>
          <p:cNvPr id="25" name="Shape 23"/>
          <p:cNvSpPr/>
          <p:nvPr/>
        </p:nvSpPr>
        <p:spPr>
          <a:xfrm>
            <a:off x="8858250" y="2571651"/>
            <a:ext cx="2514600" cy="723900"/>
          </a:xfrm>
          <a:prstGeom prst="roundRect">
            <a:avLst>
              <a:gd name="adj" fmla="val 11404"/>
            </a:avLst>
          </a:prstGeom>
          <a:solidFill>
            <a:srgbClr val="2E1423"/>
          </a:solidFill>
          <a:ln w="12700">
            <a:solidFill>
              <a:srgbClr val="4A2338"/>
            </a:solidFill>
            <a:prstDash val="solid"/>
          </a:ln>
        </p:spPr>
        <p:txBody>
          <a:bodyPr/>
          <a:lstStyle/>
          <a:p>
            <a:endParaRPr lang="en-IN"/>
          </a:p>
        </p:txBody>
      </p:sp>
      <p:sp>
        <p:nvSpPr>
          <p:cNvPr id="26" name="Text 24"/>
          <p:cNvSpPr/>
          <p:nvPr/>
        </p:nvSpPr>
        <p:spPr>
          <a:xfrm>
            <a:off x="9017000" y="2755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A6C1"/>
          </a:solidFill>
          <a:ln/>
        </p:spPr>
        <p:txBody>
          <a:bodyPr wrap="square" lIns="0" tIns="0" rIns="0" bIns="0" rtlCol="0" anchor="t">
            <a:normAutofit/>
          </a:bodyPr>
          <a:lstStyle/>
          <a:p>
            <a:pPr marL="0" indent="0" algn="ctr">
              <a:lnSpc>
                <a:spcPts val="2795"/>
              </a:lnSpc>
              <a:buNone/>
            </a:pPr>
            <a:r>
              <a:rPr lang="en-US" sz="1300" b="1" dirty="0">
                <a:solidFill>
                  <a:srgbClr val="1F0A16"/>
                </a:solidFill>
                <a:latin typeface="Arial" pitchFamily="34" charset="0"/>
                <a:ea typeface="Arial" pitchFamily="34" charset="-122"/>
                <a:cs typeface="Arial" pitchFamily="34" charset="-120"/>
              </a:rPr>
              <a:t>8</a:t>
            </a:r>
            <a:endParaRPr lang="en-US" sz="1300" dirty="0"/>
          </a:p>
        </p:txBody>
      </p:sp>
      <p:sp>
        <p:nvSpPr>
          <p:cNvPr id="27" name="Text 25"/>
          <p:cNvSpPr/>
          <p:nvPr/>
        </p:nvSpPr>
        <p:spPr>
          <a:xfrm>
            <a:off x="9499600" y="2818011"/>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List Slicers</a:t>
            </a:r>
            <a:endParaRPr lang="en-US" sz="1300" dirty="0"/>
          </a:p>
        </p:txBody>
      </p:sp>
      <p:sp>
        <p:nvSpPr>
          <p:cNvPr id="28" name="Shape 26"/>
          <p:cNvSpPr/>
          <p:nvPr/>
        </p:nvSpPr>
        <p:spPr>
          <a:xfrm>
            <a:off x="819150" y="3460651"/>
            <a:ext cx="2514600" cy="723900"/>
          </a:xfrm>
          <a:prstGeom prst="roundRect">
            <a:avLst>
              <a:gd name="adj" fmla="val 11404"/>
            </a:avLst>
          </a:prstGeom>
          <a:solidFill>
            <a:srgbClr val="2E1423"/>
          </a:solidFill>
          <a:ln w="12700">
            <a:solidFill>
              <a:srgbClr val="4A2338"/>
            </a:solidFill>
            <a:prstDash val="solid"/>
          </a:ln>
        </p:spPr>
        <p:txBody>
          <a:bodyPr/>
          <a:lstStyle/>
          <a:p>
            <a:endParaRPr lang="en-IN"/>
          </a:p>
        </p:txBody>
      </p:sp>
      <p:sp>
        <p:nvSpPr>
          <p:cNvPr id="29" name="Text 27"/>
          <p:cNvSpPr/>
          <p:nvPr/>
        </p:nvSpPr>
        <p:spPr>
          <a:xfrm>
            <a:off x="977900" y="3644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A6C1"/>
          </a:solidFill>
          <a:ln/>
        </p:spPr>
        <p:txBody>
          <a:bodyPr wrap="square" lIns="0" tIns="0" rIns="0" bIns="0" rtlCol="0" anchor="t">
            <a:normAutofit/>
          </a:bodyPr>
          <a:lstStyle/>
          <a:p>
            <a:pPr marL="0" indent="0" algn="ctr">
              <a:lnSpc>
                <a:spcPts val="2795"/>
              </a:lnSpc>
              <a:buNone/>
            </a:pPr>
            <a:r>
              <a:rPr lang="en-US" sz="1300" b="1" dirty="0">
                <a:solidFill>
                  <a:srgbClr val="1F0A16"/>
                </a:solidFill>
                <a:latin typeface="Arial" pitchFamily="34" charset="0"/>
                <a:ea typeface="Arial" pitchFamily="34" charset="-122"/>
                <a:cs typeface="Arial" pitchFamily="34" charset="-120"/>
              </a:rPr>
              <a:t>9</a:t>
            </a:r>
            <a:endParaRPr lang="en-US" sz="1300" dirty="0"/>
          </a:p>
        </p:txBody>
      </p:sp>
      <p:sp>
        <p:nvSpPr>
          <p:cNvPr id="30" name="Text 28"/>
          <p:cNvSpPr/>
          <p:nvPr/>
        </p:nvSpPr>
        <p:spPr>
          <a:xfrm>
            <a:off x="1460500" y="3707011"/>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Advanced Slicers</a:t>
            </a:r>
            <a:endParaRPr lang="en-US" sz="1300" dirty="0"/>
          </a:p>
        </p:txBody>
      </p:sp>
      <p:sp>
        <p:nvSpPr>
          <p:cNvPr id="31" name="Shape 29"/>
          <p:cNvSpPr/>
          <p:nvPr/>
        </p:nvSpPr>
        <p:spPr>
          <a:xfrm>
            <a:off x="3498850" y="3460651"/>
            <a:ext cx="2514600" cy="723900"/>
          </a:xfrm>
          <a:prstGeom prst="roundRect">
            <a:avLst>
              <a:gd name="adj" fmla="val 11404"/>
            </a:avLst>
          </a:prstGeom>
          <a:solidFill>
            <a:srgbClr val="2E1423"/>
          </a:solidFill>
          <a:ln w="12700">
            <a:solidFill>
              <a:srgbClr val="4A2338"/>
            </a:solidFill>
            <a:prstDash val="solid"/>
          </a:ln>
        </p:spPr>
        <p:txBody>
          <a:bodyPr/>
          <a:lstStyle/>
          <a:p>
            <a:endParaRPr lang="en-IN"/>
          </a:p>
        </p:txBody>
      </p:sp>
      <p:sp>
        <p:nvSpPr>
          <p:cNvPr id="32" name="Text 30"/>
          <p:cNvSpPr/>
          <p:nvPr/>
        </p:nvSpPr>
        <p:spPr>
          <a:xfrm>
            <a:off x="3657600" y="3644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4F81"/>
          </a:solidFill>
          <a:ln/>
        </p:spPr>
        <p:txBody>
          <a:bodyPr wrap="square" lIns="0" tIns="0" rIns="0" bIns="0" rtlCol="0" anchor="t">
            <a:normAutofit/>
          </a:bodyPr>
          <a:lstStyle/>
          <a:p>
            <a:pPr marL="0" indent="0" algn="ctr">
              <a:lnSpc>
                <a:spcPts val="2795"/>
              </a:lnSpc>
              <a:buNone/>
            </a:pPr>
            <a:r>
              <a:rPr lang="en-US" sz="1300" b="1" dirty="0">
                <a:solidFill>
                  <a:srgbClr val="1F0A16"/>
                </a:solidFill>
                <a:latin typeface="Arial" pitchFamily="34" charset="0"/>
                <a:ea typeface="Arial" pitchFamily="34" charset="-122"/>
                <a:cs typeface="Arial" pitchFamily="34" charset="-120"/>
              </a:rPr>
              <a:t>10</a:t>
            </a:r>
            <a:endParaRPr lang="en-US" sz="1300" dirty="0"/>
          </a:p>
        </p:txBody>
      </p:sp>
      <p:sp>
        <p:nvSpPr>
          <p:cNvPr id="33" name="Text 31"/>
          <p:cNvSpPr/>
          <p:nvPr/>
        </p:nvSpPr>
        <p:spPr>
          <a:xfrm>
            <a:off x="4140200" y="3707011"/>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Range Slicers</a:t>
            </a:r>
            <a:endParaRPr lang="en-US" sz="1300" dirty="0"/>
          </a:p>
        </p:txBody>
      </p:sp>
      <p:sp>
        <p:nvSpPr>
          <p:cNvPr id="34" name="Shape 32"/>
          <p:cNvSpPr/>
          <p:nvPr/>
        </p:nvSpPr>
        <p:spPr>
          <a:xfrm>
            <a:off x="6178550" y="3460651"/>
            <a:ext cx="2514600" cy="723900"/>
          </a:xfrm>
          <a:prstGeom prst="roundRect">
            <a:avLst>
              <a:gd name="adj" fmla="val 11404"/>
            </a:avLst>
          </a:prstGeom>
          <a:solidFill>
            <a:srgbClr val="2E1423"/>
          </a:solidFill>
          <a:ln w="12700">
            <a:solidFill>
              <a:srgbClr val="4A2338"/>
            </a:solidFill>
            <a:prstDash val="solid"/>
          </a:ln>
        </p:spPr>
        <p:txBody>
          <a:bodyPr/>
          <a:lstStyle/>
          <a:p>
            <a:endParaRPr lang="en-IN"/>
          </a:p>
        </p:txBody>
      </p:sp>
      <p:sp>
        <p:nvSpPr>
          <p:cNvPr id="35" name="Text 33"/>
          <p:cNvSpPr/>
          <p:nvPr/>
        </p:nvSpPr>
        <p:spPr>
          <a:xfrm>
            <a:off x="6337300" y="3644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A6C1"/>
          </a:solidFill>
          <a:ln/>
        </p:spPr>
        <p:txBody>
          <a:bodyPr wrap="square" lIns="0" tIns="0" rIns="0" bIns="0" rtlCol="0" anchor="t">
            <a:normAutofit/>
          </a:bodyPr>
          <a:lstStyle/>
          <a:p>
            <a:pPr marL="0" indent="0" algn="ctr">
              <a:lnSpc>
                <a:spcPts val="2795"/>
              </a:lnSpc>
              <a:buNone/>
            </a:pPr>
            <a:r>
              <a:rPr lang="en-US" sz="1300" b="1" dirty="0">
                <a:solidFill>
                  <a:srgbClr val="1F0A16"/>
                </a:solidFill>
                <a:latin typeface="Arial" pitchFamily="34" charset="0"/>
                <a:ea typeface="Arial" pitchFamily="34" charset="-122"/>
                <a:cs typeface="Arial" pitchFamily="34" charset="-120"/>
              </a:rPr>
              <a:t>11</a:t>
            </a:r>
            <a:endParaRPr lang="en-US" sz="1300" dirty="0"/>
          </a:p>
        </p:txBody>
      </p:sp>
      <p:sp>
        <p:nvSpPr>
          <p:cNvPr id="36" name="Text 34"/>
          <p:cNvSpPr/>
          <p:nvPr/>
        </p:nvSpPr>
        <p:spPr>
          <a:xfrm>
            <a:off x="6819900" y="3707011"/>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Page Navigator</a:t>
            </a:r>
            <a:endParaRPr lang="en-US" sz="1300" dirty="0"/>
          </a:p>
        </p:txBody>
      </p:sp>
      <p:sp>
        <p:nvSpPr>
          <p:cNvPr id="37" name="Shape 35"/>
          <p:cNvSpPr/>
          <p:nvPr/>
        </p:nvSpPr>
        <p:spPr>
          <a:xfrm>
            <a:off x="8858250" y="3460651"/>
            <a:ext cx="2514600" cy="723900"/>
          </a:xfrm>
          <a:prstGeom prst="roundRect">
            <a:avLst>
              <a:gd name="adj" fmla="val 11404"/>
            </a:avLst>
          </a:prstGeom>
          <a:solidFill>
            <a:srgbClr val="2E1423"/>
          </a:solidFill>
          <a:ln w="12700">
            <a:solidFill>
              <a:srgbClr val="4A2338"/>
            </a:solidFill>
            <a:prstDash val="solid"/>
          </a:ln>
        </p:spPr>
        <p:txBody>
          <a:bodyPr/>
          <a:lstStyle/>
          <a:p>
            <a:endParaRPr lang="en-IN"/>
          </a:p>
        </p:txBody>
      </p:sp>
      <p:sp>
        <p:nvSpPr>
          <p:cNvPr id="38" name="Text 36"/>
          <p:cNvSpPr/>
          <p:nvPr/>
        </p:nvSpPr>
        <p:spPr>
          <a:xfrm>
            <a:off x="9017000" y="36448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FFA6C1"/>
          </a:solidFill>
          <a:ln/>
        </p:spPr>
        <p:txBody>
          <a:bodyPr wrap="square" lIns="0" tIns="0" rIns="0" bIns="0" rtlCol="0" anchor="t">
            <a:normAutofit/>
          </a:bodyPr>
          <a:lstStyle/>
          <a:p>
            <a:pPr marL="0" indent="0" algn="ctr">
              <a:lnSpc>
                <a:spcPts val="2795"/>
              </a:lnSpc>
              <a:buNone/>
            </a:pPr>
            <a:r>
              <a:rPr lang="en-US" sz="1300" b="1" dirty="0">
                <a:solidFill>
                  <a:srgbClr val="1F0A16"/>
                </a:solidFill>
                <a:latin typeface="Arial" pitchFamily="34" charset="0"/>
                <a:ea typeface="Arial" pitchFamily="34" charset="-122"/>
                <a:cs typeface="Arial" pitchFamily="34" charset="-120"/>
              </a:rPr>
              <a:t>12</a:t>
            </a:r>
            <a:endParaRPr lang="en-US" sz="1300" dirty="0"/>
          </a:p>
        </p:txBody>
      </p:sp>
      <p:sp>
        <p:nvSpPr>
          <p:cNvPr id="39" name="Text 37"/>
          <p:cNvSpPr/>
          <p:nvPr/>
        </p:nvSpPr>
        <p:spPr>
          <a:xfrm>
            <a:off x="9499600" y="3707011"/>
            <a:ext cx="176593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Measures &amp; Bins</a:t>
            </a:r>
            <a:endParaRPr lang="en-US" sz="1300" dirty="0"/>
          </a:p>
        </p:txBody>
      </p:sp>
      <p:sp>
        <p:nvSpPr>
          <p:cNvPr id="40" name="Text 3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8598"/>
                </a:solidFill>
                <a:latin typeface="Arial" pitchFamily="34" charset="0"/>
                <a:ea typeface="Arial" pitchFamily="34" charset="-122"/>
                <a:cs typeface="Arial" pitchFamily="34" charset="-120"/>
              </a:rPr>
              <a:t>Myntra Beauty Analytics | Power BI Project</a:t>
            </a:r>
            <a:endParaRPr lang="en-US" sz="1200" dirty="0"/>
          </a:p>
        </p:txBody>
      </p:sp>
      <p:sp>
        <p:nvSpPr>
          <p:cNvPr id="41" name="Text 3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08598"/>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0A16"/>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50" dirty="0">
                <a:solidFill>
                  <a:srgbClr val="FFA6C1"/>
                </a:solidFill>
                <a:latin typeface="Arial" pitchFamily="34" charset="0"/>
                <a:ea typeface="Arial" pitchFamily="34" charset="-122"/>
                <a:cs typeface="Arial" pitchFamily="34" charset="-120"/>
              </a:rPr>
              <a:t>THE REPORT</a:t>
            </a:r>
            <a:endParaRPr lang="en-US" sz="1200" dirty="0"/>
          </a:p>
        </p:txBody>
      </p:sp>
      <p:sp>
        <p:nvSpPr>
          <p:cNvPr id="3" name="Text 1"/>
          <p:cNvSpPr>
            <a:spLocks noGrp="1"/>
          </p:cNvSpPr>
          <p:nvPr>
            <p:ph type="title"/>
          </p:nvPr>
        </p:nvSpPr>
        <p:spPr>
          <a:xfrm>
            <a:off x="812800" y="9499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4F81"/>
                </a:solidFill>
                <a:latin typeface="Arial" pitchFamily="34" charset="0"/>
                <a:ea typeface="Arial" pitchFamily="34" charset="-122"/>
                <a:cs typeface="Arial" pitchFamily="34" charset="-120"/>
              </a:rPr>
              <a:t>Dashboard Overview</a:t>
            </a:r>
            <a:endParaRPr lang="en-US" sz="3200" dirty="0"/>
          </a:p>
        </p:txBody>
      </p:sp>
      <p:sp>
        <p:nvSpPr>
          <p:cNvPr id="4" name="Text 2"/>
          <p:cNvSpPr/>
          <p:nvPr/>
        </p:nvSpPr>
        <p:spPr>
          <a:xfrm>
            <a:off x="812800" y="1523901"/>
            <a:ext cx="10883392" cy="25648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D9A9BA"/>
                </a:solidFill>
                <a:latin typeface="Arial" pitchFamily="34" charset="0"/>
                <a:ea typeface="Arial" pitchFamily="34" charset="-122"/>
                <a:cs typeface="Arial" pitchFamily="34" charset="-120"/>
              </a:rPr>
              <a:t>4 interactive pages built in Power BI, connected via Page Navigator</a:t>
            </a:r>
            <a:endParaRPr lang="en-US" sz="1300" dirty="0"/>
          </a:p>
        </p:txBody>
      </p:sp>
      <p:sp>
        <p:nvSpPr>
          <p:cNvPr id="5" name="Shape 3"/>
          <p:cNvSpPr/>
          <p:nvPr/>
        </p:nvSpPr>
        <p:spPr>
          <a:xfrm>
            <a:off x="819150" y="1888331"/>
            <a:ext cx="5194300" cy="1181001"/>
          </a:xfrm>
          <a:prstGeom prst="roundRect">
            <a:avLst>
              <a:gd name="adj" fmla="val 8065"/>
            </a:avLst>
          </a:prstGeom>
          <a:solidFill>
            <a:srgbClr val="2E1423"/>
          </a:solidFill>
          <a:ln w="12700">
            <a:solidFill>
              <a:srgbClr val="4A2338"/>
            </a:solidFill>
            <a:prstDash val="solid"/>
          </a:ln>
        </p:spPr>
        <p:txBody>
          <a:bodyPr/>
          <a:lstStyle/>
          <a:p>
            <a:endParaRPr lang="en-IN"/>
          </a:p>
        </p:txBody>
      </p:sp>
      <p:sp>
        <p:nvSpPr>
          <p:cNvPr id="6" name="Text 4"/>
          <p:cNvSpPr/>
          <p:nvPr/>
        </p:nvSpPr>
        <p:spPr>
          <a:xfrm>
            <a:off x="1054100" y="2097881"/>
            <a:ext cx="622300" cy="787301"/>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F4F81"/>
                </a:solidFill>
                <a:latin typeface="Arial" pitchFamily="34" charset="0"/>
                <a:ea typeface="Arial" pitchFamily="34" charset="-122"/>
                <a:cs typeface="Arial" pitchFamily="34" charset="-120"/>
              </a:rPr>
              <a:t>01</a:t>
            </a:r>
            <a:endParaRPr lang="en-US" sz="3200" dirty="0"/>
          </a:p>
        </p:txBody>
      </p:sp>
      <p:sp>
        <p:nvSpPr>
          <p:cNvPr id="7" name="Text 5"/>
          <p:cNvSpPr/>
          <p:nvPr/>
        </p:nvSpPr>
        <p:spPr>
          <a:xfrm>
            <a:off x="1803400" y="2097881"/>
            <a:ext cx="409435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FF1F5"/>
                </a:solidFill>
                <a:latin typeface="Arial" pitchFamily="34" charset="0"/>
                <a:ea typeface="Arial" pitchFamily="34" charset="-122"/>
                <a:cs typeface="Arial" pitchFamily="34" charset="-120"/>
              </a:rPr>
              <a:t>Pricing &amp; Discount</a:t>
            </a:r>
            <a:endParaRPr lang="en-US" sz="1700" dirty="0"/>
          </a:p>
        </p:txBody>
      </p:sp>
      <p:sp>
        <p:nvSpPr>
          <p:cNvPr id="8" name="Text 6"/>
          <p:cNvSpPr/>
          <p:nvPr/>
        </p:nvSpPr>
        <p:spPr>
          <a:xfrm>
            <a:off x="1803400" y="2433141"/>
            <a:ext cx="409435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Average price and discount, products above 50% off, price bands and discount versus popularity.</a:t>
            </a:r>
            <a:endParaRPr lang="en-US" sz="1200" dirty="0"/>
          </a:p>
        </p:txBody>
      </p:sp>
      <p:sp>
        <p:nvSpPr>
          <p:cNvPr id="9" name="Shape 7"/>
          <p:cNvSpPr/>
          <p:nvPr/>
        </p:nvSpPr>
        <p:spPr>
          <a:xfrm>
            <a:off x="6178550" y="1888331"/>
            <a:ext cx="5194300" cy="1181001"/>
          </a:xfrm>
          <a:prstGeom prst="roundRect">
            <a:avLst>
              <a:gd name="adj" fmla="val 8065"/>
            </a:avLst>
          </a:prstGeom>
          <a:solidFill>
            <a:srgbClr val="2E1423"/>
          </a:solidFill>
          <a:ln w="12700">
            <a:solidFill>
              <a:srgbClr val="4A2338"/>
            </a:solidFill>
            <a:prstDash val="solid"/>
          </a:ln>
        </p:spPr>
        <p:txBody>
          <a:bodyPr/>
          <a:lstStyle/>
          <a:p>
            <a:endParaRPr lang="en-IN"/>
          </a:p>
        </p:txBody>
      </p:sp>
      <p:sp>
        <p:nvSpPr>
          <p:cNvPr id="10" name="Text 8"/>
          <p:cNvSpPr/>
          <p:nvPr/>
        </p:nvSpPr>
        <p:spPr>
          <a:xfrm>
            <a:off x="6413500" y="2097881"/>
            <a:ext cx="622300" cy="787301"/>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FA6C1"/>
                </a:solidFill>
                <a:latin typeface="Arial" pitchFamily="34" charset="0"/>
                <a:ea typeface="Arial" pitchFamily="34" charset="-122"/>
                <a:cs typeface="Arial" pitchFamily="34" charset="-120"/>
              </a:rPr>
              <a:t>02</a:t>
            </a:r>
            <a:endParaRPr lang="en-US" sz="3200" dirty="0"/>
          </a:p>
        </p:txBody>
      </p:sp>
      <p:sp>
        <p:nvSpPr>
          <p:cNvPr id="11" name="Text 9"/>
          <p:cNvSpPr/>
          <p:nvPr/>
        </p:nvSpPr>
        <p:spPr>
          <a:xfrm>
            <a:off x="7162800" y="2097881"/>
            <a:ext cx="409435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FF1F5"/>
                </a:solidFill>
                <a:latin typeface="Arial" pitchFamily="34" charset="0"/>
                <a:ea typeface="Arial" pitchFamily="34" charset="-122"/>
                <a:cs typeface="Arial" pitchFamily="34" charset="-120"/>
              </a:rPr>
              <a:t>Brand &amp; Assortment</a:t>
            </a:r>
            <a:endParaRPr lang="en-US" sz="1700" dirty="0"/>
          </a:p>
        </p:txBody>
      </p:sp>
      <p:sp>
        <p:nvSpPr>
          <p:cNvPr id="12" name="Text 10"/>
          <p:cNvSpPr/>
          <p:nvPr/>
        </p:nvSpPr>
        <p:spPr>
          <a:xfrm>
            <a:off x="7162800" y="2433141"/>
            <a:ext cx="409435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Distinct brands, products per brand and a brand-by-category matrix with price positioning.</a:t>
            </a:r>
            <a:endParaRPr lang="en-US" sz="1200" dirty="0"/>
          </a:p>
        </p:txBody>
      </p:sp>
      <p:sp>
        <p:nvSpPr>
          <p:cNvPr id="13" name="Shape 11"/>
          <p:cNvSpPr/>
          <p:nvPr/>
        </p:nvSpPr>
        <p:spPr>
          <a:xfrm>
            <a:off x="819150" y="3234432"/>
            <a:ext cx="5194300" cy="1181001"/>
          </a:xfrm>
          <a:prstGeom prst="roundRect">
            <a:avLst>
              <a:gd name="adj" fmla="val 8065"/>
            </a:avLst>
          </a:prstGeom>
          <a:solidFill>
            <a:srgbClr val="2E1423"/>
          </a:solidFill>
          <a:ln w="12700">
            <a:solidFill>
              <a:srgbClr val="4A2338"/>
            </a:solidFill>
            <a:prstDash val="solid"/>
          </a:ln>
        </p:spPr>
        <p:txBody>
          <a:bodyPr/>
          <a:lstStyle/>
          <a:p>
            <a:endParaRPr lang="en-IN"/>
          </a:p>
        </p:txBody>
      </p:sp>
      <p:sp>
        <p:nvSpPr>
          <p:cNvPr id="14" name="Text 12"/>
          <p:cNvSpPr/>
          <p:nvPr/>
        </p:nvSpPr>
        <p:spPr>
          <a:xfrm>
            <a:off x="1054100" y="3443982"/>
            <a:ext cx="622300" cy="787301"/>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FA6C1"/>
                </a:solidFill>
                <a:latin typeface="Arial" pitchFamily="34" charset="0"/>
                <a:ea typeface="Arial" pitchFamily="34" charset="-122"/>
                <a:cs typeface="Arial" pitchFamily="34" charset="-120"/>
              </a:rPr>
              <a:t>03</a:t>
            </a:r>
            <a:endParaRPr lang="en-US" sz="3200" dirty="0"/>
          </a:p>
        </p:txBody>
      </p:sp>
      <p:sp>
        <p:nvSpPr>
          <p:cNvPr id="15" name="Text 13"/>
          <p:cNvSpPr/>
          <p:nvPr/>
        </p:nvSpPr>
        <p:spPr>
          <a:xfrm>
            <a:off x="1803400" y="3443982"/>
            <a:ext cx="409435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FF1F5"/>
                </a:solidFill>
                <a:latin typeface="Arial" pitchFamily="34" charset="0"/>
                <a:ea typeface="Arial" pitchFamily="34" charset="-122"/>
                <a:cs typeface="Arial" pitchFamily="34" charset="-120"/>
              </a:rPr>
              <a:t>Rating &amp; Engagement</a:t>
            </a:r>
            <a:endParaRPr lang="en-US" sz="1700" dirty="0"/>
          </a:p>
        </p:txBody>
      </p:sp>
      <p:sp>
        <p:nvSpPr>
          <p:cNvPr id="16" name="Text 14"/>
          <p:cNvSpPr/>
          <p:nvPr/>
        </p:nvSpPr>
        <p:spPr>
          <a:xfrm>
            <a:off x="1803400" y="3779242"/>
            <a:ext cx="409435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Average rating, products rated above 4, low-rated products and the rating mix by category.</a:t>
            </a:r>
            <a:endParaRPr lang="en-US" sz="1200" dirty="0"/>
          </a:p>
        </p:txBody>
      </p:sp>
      <p:sp>
        <p:nvSpPr>
          <p:cNvPr id="17" name="Shape 15"/>
          <p:cNvSpPr/>
          <p:nvPr/>
        </p:nvSpPr>
        <p:spPr>
          <a:xfrm>
            <a:off x="6178550" y="3234432"/>
            <a:ext cx="5194300" cy="1181001"/>
          </a:xfrm>
          <a:prstGeom prst="roundRect">
            <a:avLst>
              <a:gd name="adj" fmla="val 8065"/>
            </a:avLst>
          </a:prstGeom>
          <a:solidFill>
            <a:srgbClr val="2E1423"/>
          </a:solidFill>
          <a:ln w="12700">
            <a:solidFill>
              <a:srgbClr val="4A2338"/>
            </a:solidFill>
            <a:prstDash val="solid"/>
          </a:ln>
        </p:spPr>
        <p:txBody>
          <a:bodyPr/>
          <a:lstStyle/>
          <a:p>
            <a:endParaRPr lang="en-IN"/>
          </a:p>
        </p:txBody>
      </p:sp>
      <p:sp>
        <p:nvSpPr>
          <p:cNvPr id="18" name="Text 16"/>
          <p:cNvSpPr/>
          <p:nvPr/>
        </p:nvSpPr>
        <p:spPr>
          <a:xfrm>
            <a:off x="6413500" y="3443982"/>
            <a:ext cx="622300" cy="787301"/>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F4F81"/>
                </a:solidFill>
                <a:latin typeface="Arial" pitchFamily="34" charset="0"/>
                <a:ea typeface="Arial" pitchFamily="34" charset="-122"/>
                <a:cs typeface="Arial" pitchFamily="34" charset="-120"/>
              </a:rPr>
              <a:t>04</a:t>
            </a:r>
            <a:endParaRPr lang="en-US" sz="3200" dirty="0"/>
          </a:p>
        </p:txBody>
      </p:sp>
      <p:sp>
        <p:nvSpPr>
          <p:cNvPr id="19" name="Text 17"/>
          <p:cNvSpPr/>
          <p:nvPr/>
        </p:nvSpPr>
        <p:spPr>
          <a:xfrm>
            <a:off x="7162800" y="3443982"/>
            <a:ext cx="409435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FF1F5"/>
                </a:solidFill>
                <a:latin typeface="Arial" pitchFamily="34" charset="0"/>
                <a:ea typeface="Arial" pitchFamily="34" charset="-122"/>
                <a:cs typeface="Arial" pitchFamily="34" charset="-120"/>
              </a:rPr>
              <a:t>Product Investigation</a:t>
            </a:r>
            <a:endParaRPr lang="en-US" sz="1700" dirty="0"/>
          </a:p>
        </p:txBody>
      </p:sp>
      <p:sp>
        <p:nvSpPr>
          <p:cNvPr id="20" name="Text 18"/>
          <p:cNvSpPr/>
          <p:nvPr/>
        </p:nvSpPr>
        <p:spPr>
          <a:xfrm>
            <a:off x="7162800" y="3779242"/>
            <a:ext cx="409435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9A9BA"/>
                </a:solidFill>
                <a:latin typeface="Arial" pitchFamily="34" charset="0"/>
                <a:ea typeface="Arial" pitchFamily="34" charset="-122"/>
                <a:cs typeface="Arial" pitchFamily="34" charset="-120"/>
              </a:rPr>
              <a:t>Drill-down table of name, brand, category, price, discount and rating, filtered by slicers.</a:t>
            </a:r>
            <a:endParaRPr lang="en-US" sz="12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8598"/>
                </a:solidFill>
                <a:latin typeface="Arial" pitchFamily="34" charset="0"/>
                <a:ea typeface="Arial" pitchFamily="34" charset="-122"/>
                <a:cs typeface="Arial" pitchFamily="34" charset="-120"/>
              </a:rPr>
              <a:t>Myntra Beauty Analytics | Power BI Project</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08598"/>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8">
    <p:bg>
      <p:bgPr>
        <a:solidFill>
          <a:srgbClr val="1F0A16"/>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50" dirty="0">
                <a:solidFill>
                  <a:srgbClr val="FFA6C1"/>
                </a:solidFill>
                <a:latin typeface="Arial" pitchFamily="34" charset="0"/>
                <a:ea typeface="Arial" pitchFamily="34" charset="-122"/>
                <a:cs typeface="Arial" pitchFamily="34" charset="-120"/>
              </a:rPr>
              <a:t>WHAT’S NEXT</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F4F81"/>
                </a:solidFill>
                <a:latin typeface="Arial" pitchFamily="34" charset="0"/>
                <a:ea typeface="Arial" pitchFamily="34" charset="-122"/>
                <a:cs typeface="Arial" pitchFamily="34" charset="-120"/>
              </a:rPr>
              <a:t>Business Benefits &amp; Future Enhancements</a:t>
            </a:r>
            <a:endParaRPr lang="en-US" sz="3200" dirty="0"/>
          </a:p>
        </p:txBody>
      </p:sp>
      <p:sp>
        <p:nvSpPr>
          <p:cNvPr id="4" name="Shape 2"/>
          <p:cNvSpPr/>
          <p:nvPr/>
        </p:nvSpPr>
        <p:spPr>
          <a:xfrm>
            <a:off x="819150" y="1682651"/>
            <a:ext cx="5168900" cy="2631380"/>
          </a:xfrm>
          <a:prstGeom prst="roundRect">
            <a:avLst>
              <a:gd name="adj" fmla="val 3620"/>
            </a:avLst>
          </a:prstGeom>
          <a:solidFill>
            <a:srgbClr val="2E1423"/>
          </a:solidFill>
          <a:ln w="12700">
            <a:solidFill>
              <a:srgbClr val="4A2338"/>
            </a:solidFill>
            <a:prstDash val="solid"/>
          </a:ln>
        </p:spPr>
        <p:txBody>
          <a:bodyPr/>
          <a:lstStyle/>
          <a:p>
            <a:endParaRPr lang="en-IN"/>
          </a:p>
        </p:txBody>
      </p:sp>
      <p:sp>
        <p:nvSpPr>
          <p:cNvPr id="5" name="Text 3"/>
          <p:cNvSpPr/>
          <p:nvPr/>
        </p:nvSpPr>
        <p:spPr>
          <a:xfrm>
            <a:off x="1054100" y="1892201"/>
            <a:ext cx="483997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A6C1"/>
                </a:solidFill>
                <a:latin typeface="Arial" pitchFamily="34" charset="0"/>
                <a:ea typeface="Arial" pitchFamily="34" charset="-122"/>
                <a:cs typeface="Arial" pitchFamily="34" charset="-120"/>
              </a:rPr>
              <a:t>Business Benefits</a:t>
            </a:r>
            <a:endParaRPr lang="en-US" sz="1600" dirty="0"/>
          </a:p>
        </p:txBody>
      </p:sp>
      <p:sp>
        <p:nvSpPr>
          <p:cNvPr id="6" name="Shape 4"/>
          <p:cNvSpPr/>
          <p:nvPr/>
        </p:nvSpPr>
        <p:spPr>
          <a:xfrm>
            <a:off x="1054100" y="2275681"/>
            <a:ext cx="254000" cy="254000"/>
          </a:xfrm>
          <a:prstGeom prst="roundRect">
            <a:avLst>
              <a:gd name="adj" fmla="val 50000"/>
            </a:avLst>
          </a:prstGeom>
          <a:solidFill>
            <a:srgbClr val="FFA6C1"/>
          </a:solidFill>
          <a:ln/>
        </p:spPr>
        <p:txBody>
          <a:bodyPr/>
          <a:lstStyle/>
          <a:p>
            <a:endParaRPr lang="en-IN"/>
          </a:p>
        </p:txBody>
      </p:sp>
      <p:pic>
        <p:nvPicPr>
          <p:cNvPr id="7" name="Image 0" descr="Check"/>
          <p:cNvPicPr>
            <a:picLocks noChangeAspect="1"/>
          </p:cNvPicPr>
          <p:nvPr/>
        </p:nvPicPr>
        <p:blipFill>
          <a:blip r:embed="rId3"/>
          <a:srcRect/>
          <a:stretch/>
        </p:blipFill>
        <p:spPr>
          <a:xfrm>
            <a:off x="1098550" y="2320131"/>
            <a:ext cx="165100" cy="165100"/>
          </a:xfrm>
          <a:prstGeom prst="rect">
            <a:avLst/>
          </a:prstGeom>
        </p:spPr>
      </p:pic>
      <p:sp>
        <p:nvSpPr>
          <p:cNvPr id="8" name="Text 5"/>
          <p:cNvSpPr/>
          <p:nvPr/>
        </p:nvSpPr>
        <p:spPr>
          <a:xfrm>
            <a:off x="1422400" y="2287091"/>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Faster, data-driven pricing decisions</a:t>
            </a:r>
            <a:endParaRPr lang="en-US" sz="1300" dirty="0"/>
          </a:p>
        </p:txBody>
      </p:sp>
      <p:sp>
        <p:nvSpPr>
          <p:cNvPr id="9" name="Shape 6"/>
          <p:cNvSpPr/>
          <p:nvPr/>
        </p:nvSpPr>
        <p:spPr>
          <a:xfrm>
            <a:off x="1054100" y="2669381"/>
            <a:ext cx="254000" cy="254000"/>
          </a:xfrm>
          <a:prstGeom prst="roundRect">
            <a:avLst>
              <a:gd name="adj" fmla="val 50000"/>
            </a:avLst>
          </a:prstGeom>
          <a:solidFill>
            <a:srgbClr val="FFA6C1"/>
          </a:solidFill>
          <a:ln/>
        </p:spPr>
        <p:txBody>
          <a:bodyPr/>
          <a:lstStyle/>
          <a:p>
            <a:endParaRPr lang="en-IN"/>
          </a:p>
        </p:txBody>
      </p:sp>
      <p:pic>
        <p:nvPicPr>
          <p:cNvPr id="10" name="Image 1" descr="Check"/>
          <p:cNvPicPr>
            <a:picLocks noChangeAspect="1"/>
          </p:cNvPicPr>
          <p:nvPr/>
        </p:nvPicPr>
        <p:blipFill>
          <a:blip r:embed="rId3"/>
          <a:srcRect/>
          <a:stretch/>
        </p:blipFill>
        <p:spPr>
          <a:xfrm>
            <a:off x="1098550" y="2713831"/>
            <a:ext cx="165100" cy="165100"/>
          </a:xfrm>
          <a:prstGeom prst="rect">
            <a:avLst/>
          </a:prstGeom>
        </p:spPr>
      </p:pic>
      <p:sp>
        <p:nvSpPr>
          <p:cNvPr id="11" name="Text 7"/>
          <p:cNvSpPr/>
          <p:nvPr/>
        </p:nvSpPr>
        <p:spPr>
          <a:xfrm>
            <a:off x="1422400" y="2680791"/>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Smarter discount planning</a:t>
            </a:r>
            <a:endParaRPr lang="en-US" sz="1300" dirty="0"/>
          </a:p>
        </p:txBody>
      </p:sp>
      <p:sp>
        <p:nvSpPr>
          <p:cNvPr id="12" name="Shape 8"/>
          <p:cNvSpPr/>
          <p:nvPr/>
        </p:nvSpPr>
        <p:spPr>
          <a:xfrm>
            <a:off x="1054100" y="3063081"/>
            <a:ext cx="254000" cy="254000"/>
          </a:xfrm>
          <a:prstGeom prst="roundRect">
            <a:avLst>
              <a:gd name="adj" fmla="val 50000"/>
            </a:avLst>
          </a:prstGeom>
          <a:solidFill>
            <a:srgbClr val="FFA6C1"/>
          </a:solidFill>
          <a:ln/>
        </p:spPr>
        <p:txBody>
          <a:bodyPr/>
          <a:lstStyle/>
          <a:p>
            <a:endParaRPr lang="en-IN"/>
          </a:p>
        </p:txBody>
      </p:sp>
      <p:pic>
        <p:nvPicPr>
          <p:cNvPr id="13" name="Image 2" descr="Check"/>
          <p:cNvPicPr>
            <a:picLocks noChangeAspect="1"/>
          </p:cNvPicPr>
          <p:nvPr/>
        </p:nvPicPr>
        <p:blipFill>
          <a:blip r:embed="rId3"/>
          <a:srcRect/>
          <a:stretch/>
        </p:blipFill>
        <p:spPr>
          <a:xfrm>
            <a:off x="1098550" y="3107531"/>
            <a:ext cx="165100" cy="165100"/>
          </a:xfrm>
          <a:prstGeom prst="rect">
            <a:avLst/>
          </a:prstGeom>
        </p:spPr>
      </p:pic>
      <p:sp>
        <p:nvSpPr>
          <p:cNvPr id="14" name="Text 9"/>
          <p:cNvSpPr/>
          <p:nvPr/>
        </p:nvSpPr>
        <p:spPr>
          <a:xfrm>
            <a:off x="1422400" y="3074491"/>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Better assortment and brand selection</a:t>
            </a:r>
            <a:endParaRPr lang="en-US" sz="1300" dirty="0"/>
          </a:p>
        </p:txBody>
      </p:sp>
      <p:sp>
        <p:nvSpPr>
          <p:cNvPr id="15" name="Shape 10"/>
          <p:cNvSpPr/>
          <p:nvPr/>
        </p:nvSpPr>
        <p:spPr>
          <a:xfrm>
            <a:off x="1054100" y="3456781"/>
            <a:ext cx="254000" cy="254000"/>
          </a:xfrm>
          <a:prstGeom prst="roundRect">
            <a:avLst>
              <a:gd name="adj" fmla="val 50000"/>
            </a:avLst>
          </a:prstGeom>
          <a:solidFill>
            <a:srgbClr val="FFA6C1"/>
          </a:solidFill>
          <a:ln/>
        </p:spPr>
        <p:txBody>
          <a:bodyPr/>
          <a:lstStyle/>
          <a:p>
            <a:endParaRPr lang="en-IN"/>
          </a:p>
        </p:txBody>
      </p:sp>
      <p:pic>
        <p:nvPicPr>
          <p:cNvPr id="16" name="Image 3" descr="Check"/>
          <p:cNvPicPr>
            <a:picLocks noChangeAspect="1"/>
          </p:cNvPicPr>
          <p:nvPr/>
        </p:nvPicPr>
        <p:blipFill>
          <a:blip r:embed="rId3"/>
          <a:srcRect/>
          <a:stretch/>
        </p:blipFill>
        <p:spPr>
          <a:xfrm>
            <a:off x="1098550" y="3501231"/>
            <a:ext cx="165100" cy="165100"/>
          </a:xfrm>
          <a:prstGeom prst="rect">
            <a:avLst/>
          </a:prstGeom>
        </p:spPr>
      </p:pic>
      <p:sp>
        <p:nvSpPr>
          <p:cNvPr id="17" name="Text 11"/>
          <p:cNvSpPr/>
          <p:nvPr/>
        </p:nvSpPr>
        <p:spPr>
          <a:xfrm>
            <a:off x="1422400" y="3468191"/>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Focus on categories customers rate highly</a:t>
            </a:r>
            <a:endParaRPr lang="en-US" sz="1300" dirty="0"/>
          </a:p>
        </p:txBody>
      </p:sp>
      <p:sp>
        <p:nvSpPr>
          <p:cNvPr id="18" name="Shape 12"/>
          <p:cNvSpPr/>
          <p:nvPr/>
        </p:nvSpPr>
        <p:spPr>
          <a:xfrm>
            <a:off x="1054100" y="3850481"/>
            <a:ext cx="254000" cy="254000"/>
          </a:xfrm>
          <a:prstGeom prst="roundRect">
            <a:avLst>
              <a:gd name="adj" fmla="val 50000"/>
            </a:avLst>
          </a:prstGeom>
          <a:solidFill>
            <a:srgbClr val="FFA6C1"/>
          </a:solidFill>
          <a:ln/>
        </p:spPr>
        <p:txBody>
          <a:bodyPr/>
          <a:lstStyle/>
          <a:p>
            <a:endParaRPr lang="en-IN"/>
          </a:p>
        </p:txBody>
      </p:sp>
      <p:pic>
        <p:nvPicPr>
          <p:cNvPr id="19" name="Image 4" descr="Check"/>
          <p:cNvPicPr>
            <a:picLocks noChangeAspect="1"/>
          </p:cNvPicPr>
          <p:nvPr/>
        </p:nvPicPr>
        <p:blipFill>
          <a:blip r:embed="rId3"/>
          <a:srcRect/>
          <a:stretch/>
        </p:blipFill>
        <p:spPr>
          <a:xfrm>
            <a:off x="1098550" y="3894931"/>
            <a:ext cx="165100" cy="165100"/>
          </a:xfrm>
          <a:prstGeom prst="rect">
            <a:avLst/>
          </a:prstGeom>
        </p:spPr>
      </p:pic>
      <p:sp>
        <p:nvSpPr>
          <p:cNvPr id="20" name="Text 13"/>
          <p:cNvSpPr/>
          <p:nvPr/>
        </p:nvSpPr>
        <p:spPr>
          <a:xfrm>
            <a:off x="1422400" y="3861891"/>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Clear view of deep-discount categories</a:t>
            </a:r>
            <a:endParaRPr lang="en-US" sz="1300" dirty="0"/>
          </a:p>
        </p:txBody>
      </p:sp>
      <p:sp>
        <p:nvSpPr>
          <p:cNvPr id="21" name="Shape 14"/>
          <p:cNvSpPr/>
          <p:nvPr/>
        </p:nvSpPr>
        <p:spPr>
          <a:xfrm>
            <a:off x="6203950" y="1682651"/>
            <a:ext cx="5168900" cy="2631380"/>
          </a:xfrm>
          <a:prstGeom prst="roundRect">
            <a:avLst>
              <a:gd name="adj" fmla="val 3620"/>
            </a:avLst>
          </a:prstGeom>
          <a:solidFill>
            <a:srgbClr val="2E1423"/>
          </a:solidFill>
          <a:ln w="12700">
            <a:solidFill>
              <a:srgbClr val="4A2338"/>
            </a:solidFill>
            <a:prstDash val="solid"/>
          </a:ln>
        </p:spPr>
        <p:txBody>
          <a:bodyPr/>
          <a:lstStyle/>
          <a:p>
            <a:endParaRPr lang="en-IN"/>
          </a:p>
        </p:txBody>
      </p:sp>
      <p:sp>
        <p:nvSpPr>
          <p:cNvPr id="22" name="Text 15"/>
          <p:cNvSpPr/>
          <p:nvPr/>
        </p:nvSpPr>
        <p:spPr>
          <a:xfrm>
            <a:off x="6438900" y="1892201"/>
            <a:ext cx="483997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4F81"/>
                </a:solidFill>
                <a:latin typeface="Arial" pitchFamily="34" charset="0"/>
                <a:ea typeface="Arial" pitchFamily="34" charset="-122"/>
                <a:cs typeface="Arial" pitchFamily="34" charset="-120"/>
              </a:rPr>
              <a:t>Future Enhancements</a:t>
            </a:r>
            <a:endParaRPr lang="en-US" sz="1600" dirty="0"/>
          </a:p>
        </p:txBody>
      </p:sp>
      <p:sp>
        <p:nvSpPr>
          <p:cNvPr id="23" name="Shape 16"/>
          <p:cNvSpPr/>
          <p:nvPr/>
        </p:nvSpPr>
        <p:spPr>
          <a:xfrm>
            <a:off x="6438900" y="2275681"/>
            <a:ext cx="254000" cy="254000"/>
          </a:xfrm>
          <a:prstGeom prst="roundRect">
            <a:avLst>
              <a:gd name="adj" fmla="val 50000"/>
            </a:avLst>
          </a:prstGeom>
          <a:solidFill>
            <a:srgbClr val="FF4F81"/>
          </a:solidFill>
          <a:ln/>
        </p:spPr>
        <p:txBody>
          <a:bodyPr/>
          <a:lstStyle/>
          <a:p>
            <a:endParaRPr lang="en-IN"/>
          </a:p>
        </p:txBody>
      </p:sp>
      <p:pic>
        <p:nvPicPr>
          <p:cNvPr id="24" name="Image 5" descr="Check"/>
          <p:cNvPicPr>
            <a:picLocks noChangeAspect="1"/>
          </p:cNvPicPr>
          <p:nvPr/>
        </p:nvPicPr>
        <p:blipFill>
          <a:blip r:embed="rId3"/>
          <a:srcRect/>
          <a:stretch/>
        </p:blipFill>
        <p:spPr>
          <a:xfrm>
            <a:off x="6483350" y="2320131"/>
            <a:ext cx="165100" cy="165100"/>
          </a:xfrm>
          <a:prstGeom prst="rect">
            <a:avLst/>
          </a:prstGeom>
        </p:spPr>
      </p:pic>
      <p:sp>
        <p:nvSpPr>
          <p:cNvPr id="25" name="Text 17"/>
          <p:cNvSpPr/>
          <p:nvPr/>
        </p:nvSpPr>
        <p:spPr>
          <a:xfrm>
            <a:off x="6807200" y="2287091"/>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Scrape beyond 500 listings per category</a:t>
            </a:r>
            <a:endParaRPr lang="en-US" sz="1300" dirty="0"/>
          </a:p>
        </p:txBody>
      </p:sp>
      <p:sp>
        <p:nvSpPr>
          <p:cNvPr id="26" name="Shape 18"/>
          <p:cNvSpPr/>
          <p:nvPr/>
        </p:nvSpPr>
        <p:spPr>
          <a:xfrm>
            <a:off x="6438900" y="2669381"/>
            <a:ext cx="254000" cy="254000"/>
          </a:xfrm>
          <a:prstGeom prst="roundRect">
            <a:avLst>
              <a:gd name="adj" fmla="val 50000"/>
            </a:avLst>
          </a:prstGeom>
          <a:solidFill>
            <a:srgbClr val="FF4F81"/>
          </a:solidFill>
          <a:ln/>
        </p:spPr>
        <p:txBody>
          <a:bodyPr/>
          <a:lstStyle/>
          <a:p>
            <a:endParaRPr lang="en-IN"/>
          </a:p>
        </p:txBody>
      </p:sp>
      <p:pic>
        <p:nvPicPr>
          <p:cNvPr id="27" name="Image 6" descr="Check"/>
          <p:cNvPicPr>
            <a:picLocks noChangeAspect="1"/>
          </p:cNvPicPr>
          <p:nvPr/>
        </p:nvPicPr>
        <p:blipFill>
          <a:blip r:embed="rId3"/>
          <a:srcRect/>
          <a:stretch/>
        </p:blipFill>
        <p:spPr>
          <a:xfrm>
            <a:off x="6483350" y="2713831"/>
            <a:ext cx="165100" cy="165100"/>
          </a:xfrm>
          <a:prstGeom prst="rect">
            <a:avLst/>
          </a:prstGeom>
        </p:spPr>
      </p:pic>
      <p:sp>
        <p:nvSpPr>
          <p:cNvPr id="28" name="Text 19"/>
          <p:cNvSpPr/>
          <p:nvPr/>
        </p:nvSpPr>
        <p:spPr>
          <a:xfrm>
            <a:off x="6807200" y="2680791"/>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Sentiment analysis on review text</a:t>
            </a:r>
            <a:endParaRPr lang="en-US" sz="1300" dirty="0"/>
          </a:p>
        </p:txBody>
      </p:sp>
      <p:sp>
        <p:nvSpPr>
          <p:cNvPr id="29" name="Shape 20"/>
          <p:cNvSpPr/>
          <p:nvPr/>
        </p:nvSpPr>
        <p:spPr>
          <a:xfrm>
            <a:off x="6438900" y="3063081"/>
            <a:ext cx="254000" cy="254000"/>
          </a:xfrm>
          <a:prstGeom prst="roundRect">
            <a:avLst>
              <a:gd name="adj" fmla="val 50000"/>
            </a:avLst>
          </a:prstGeom>
          <a:solidFill>
            <a:srgbClr val="FF4F81"/>
          </a:solidFill>
          <a:ln/>
        </p:spPr>
        <p:txBody>
          <a:bodyPr/>
          <a:lstStyle/>
          <a:p>
            <a:endParaRPr lang="en-IN"/>
          </a:p>
        </p:txBody>
      </p:sp>
      <p:pic>
        <p:nvPicPr>
          <p:cNvPr id="30" name="Image 7" descr="Check"/>
          <p:cNvPicPr>
            <a:picLocks noChangeAspect="1"/>
          </p:cNvPicPr>
          <p:nvPr/>
        </p:nvPicPr>
        <p:blipFill>
          <a:blip r:embed="rId3"/>
          <a:srcRect/>
          <a:stretch/>
        </p:blipFill>
        <p:spPr>
          <a:xfrm>
            <a:off x="6483350" y="3107531"/>
            <a:ext cx="165100" cy="165100"/>
          </a:xfrm>
          <a:prstGeom prst="rect">
            <a:avLst/>
          </a:prstGeom>
        </p:spPr>
      </p:pic>
      <p:sp>
        <p:nvSpPr>
          <p:cNvPr id="31" name="Text 21"/>
          <p:cNvSpPr/>
          <p:nvPr/>
        </p:nvSpPr>
        <p:spPr>
          <a:xfrm>
            <a:off x="6807200" y="3074491"/>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Price and discount history over time</a:t>
            </a:r>
            <a:endParaRPr lang="en-US" sz="1300" dirty="0"/>
          </a:p>
        </p:txBody>
      </p:sp>
      <p:sp>
        <p:nvSpPr>
          <p:cNvPr id="32" name="Shape 22"/>
          <p:cNvSpPr/>
          <p:nvPr/>
        </p:nvSpPr>
        <p:spPr>
          <a:xfrm>
            <a:off x="6438900" y="3456781"/>
            <a:ext cx="254000" cy="254000"/>
          </a:xfrm>
          <a:prstGeom prst="roundRect">
            <a:avLst>
              <a:gd name="adj" fmla="val 50000"/>
            </a:avLst>
          </a:prstGeom>
          <a:solidFill>
            <a:srgbClr val="FF4F81"/>
          </a:solidFill>
          <a:ln/>
        </p:spPr>
        <p:txBody>
          <a:bodyPr/>
          <a:lstStyle/>
          <a:p>
            <a:endParaRPr lang="en-IN"/>
          </a:p>
        </p:txBody>
      </p:sp>
      <p:pic>
        <p:nvPicPr>
          <p:cNvPr id="33" name="Image 8" descr="Check"/>
          <p:cNvPicPr>
            <a:picLocks noChangeAspect="1"/>
          </p:cNvPicPr>
          <p:nvPr/>
        </p:nvPicPr>
        <p:blipFill>
          <a:blip r:embed="rId3"/>
          <a:srcRect/>
          <a:stretch/>
        </p:blipFill>
        <p:spPr>
          <a:xfrm>
            <a:off x="6483350" y="3501231"/>
            <a:ext cx="165100" cy="165100"/>
          </a:xfrm>
          <a:prstGeom prst="rect">
            <a:avLst/>
          </a:prstGeom>
        </p:spPr>
      </p:pic>
      <p:sp>
        <p:nvSpPr>
          <p:cNvPr id="34" name="Text 23"/>
          <p:cNvSpPr/>
          <p:nvPr/>
        </p:nvSpPr>
        <p:spPr>
          <a:xfrm>
            <a:off x="6807200" y="3468191"/>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Competitor price benchmarking</a:t>
            </a:r>
            <a:endParaRPr lang="en-US" sz="1300" dirty="0"/>
          </a:p>
        </p:txBody>
      </p:sp>
      <p:sp>
        <p:nvSpPr>
          <p:cNvPr id="35" name="Shape 24"/>
          <p:cNvSpPr/>
          <p:nvPr/>
        </p:nvSpPr>
        <p:spPr>
          <a:xfrm>
            <a:off x="6438900" y="3850481"/>
            <a:ext cx="254000" cy="254000"/>
          </a:xfrm>
          <a:prstGeom prst="roundRect">
            <a:avLst>
              <a:gd name="adj" fmla="val 50000"/>
            </a:avLst>
          </a:prstGeom>
          <a:solidFill>
            <a:srgbClr val="FF4F81"/>
          </a:solidFill>
          <a:ln/>
        </p:spPr>
        <p:txBody>
          <a:bodyPr/>
          <a:lstStyle/>
          <a:p>
            <a:endParaRPr lang="en-IN"/>
          </a:p>
        </p:txBody>
      </p:sp>
      <p:pic>
        <p:nvPicPr>
          <p:cNvPr id="36" name="Image 9" descr="Check"/>
          <p:cNvPicPr>
            <a:picLocks noChangeAspect="1"/>
          </p:cNvPicPr>
          <p:nvPr/>
        </p:nvPicPr>
        <p:blipFill>
          <a:blip r:embed="rId3"/>
          <a:srcRect/>
          <a:stretch/>
        </p:blipFill>
        <p:spPr>
          <a:xfrm>
            <a:off x="6483350" y="3894931"/>
            <a:ext cx="165100" cy="165100"/>
          </a:xfrm>
          <a:prstGeom prst="rect">
            <a:avLst/>
          </a:prstGeom>
        </p:spPr>
      </p:pic>
      <p:sp>
        <p:nvSpPr>
          <p:cNvPr id="37" name="Text 25"/>
          <p:cNvSpPr/>
          <p:nvPr/>
        </p:nvSpPr>
        <p:spPr>
          <a:xfrm>
            <a:off x="6807200" y="3861891"/>
            <a:ext cx="446062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1F5"/>
                </a:solidFill>
                <a:latin typeface="Arial" pitchFamily="34" charset="0"/>
                <a:ea typeface="Arial" pitchFamily="34" charset="-122"/>
                <a:cs typeface="Arial" pitchFamily="34" charset="-120"/>
              </a:rPr>
              <a:t>Automated scheduled data refresh</a:t>
            </a:r>
            <a:endParaRPr lang="en-US" sz="1300" dirty="0"/>
          </a:p>
        </p:txBody>
      </p:sp>
      <p:sp>
        <p:nvSpPr>
          <p:cNvPr id="38" name="Text 2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08598"/>
                </a:solidFill>
                <a:latin typeface="Arial" pitchFamily="34" charset="0"/>
                <a:ea typeface="Arial" pitchFamily="34" charset="-122"/>
                <a:cs typeface="Arial" pitchFamily="34" charset="-120"/>
              </a:rPr>
              <a:t>Myntra Beauty Analytics | Power BI Project</a:t>
            </a:r>
            <a:endParaRPr lang="en-US" sz="1200" dirty="0"/>
          </a:p>
        </p:txBody>
      </p:sp>
      <p:sp>
        <p:nvSpPr>
          <p:cNvPr id="39" name="Text 2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08598"/>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9">
    <p:bg>
      <p:bgPr>
        <a:solidFill>
          <a:srgbClr val="1F0A16"/>
        </a:solidFill>
        <a:effectLst/>
      </p:bgPr>
    </p:bg>
    <p:spTree>
      <p:nvGrpSpPr>
        <p:cNvPr id="1" name=""/>
        <p:cNvGrpSpPr/>
        <p:nvPr/>
      </p:nvGrpSpPr>
      <p:grpSpPr>
        <a:xfrm>
          <a:off x="0" y="0"/>
          <a:ext cx="0" cy="0"/>
          <a:chOff x="0" y="0"/>
          <a:chExt cx="0" cy="0"/>
        </a:xfrm>
      </p:grpSpPr>
      <p:sp>
        <p:nvSpPr>
          <p:cNvPr id="2" name="Shape 0"/>
          <p:cNvSpPr/>
          <p:nvPr/>
        </p:nvSpPr>
        <p:spPr>
          <a:xfrm>
            <a:off x="0" y="508000"/>
            <a:ext cx="2667000" cy="2667000"/>
          </a:xfrm>
          <a:prstGeom prst="roundRect">
            <a:avLst>
              <a:gd name="adj" fmla="val 50000"/>
            </a:avLst>
          </a:prstGeom>
          <a:solidFill>
            <a:srgbClr val="4A1A33"/>
          </a:solidFill>
          <a:ln/>
        </p:spPr>
        <p:txBody>
          <a:bodyPr/>
          <a:lstStyle/>
          <a:p>
            <a:endParaRPr lang="en-IN"/>
          </a:p>
        </p:txBody>
      </p:sp>
      <p:sp>
        <p:nvSpPr>
          <p:cNvPr id="3" name="Shape 1"/>
          <p:cNvSpPr/>
          <p:nvPr/>
        </p:nvSpPr>
        <p:spPr>
          <a:xfrm>
            <a:off x="9525000" y="4826000"/>
            <a:ext cx="1905000" cy="1905000"/>
          </a:xfrm>
          <a:prstGeom prst="roundRect">
            <a:avLst>
              <a:gd name="adj" fmla="val 50000"/>
            </a:avLst>
          </a:prstGeom>
          <a:solidFill>
            <a:srgbClr val="6A2144"/>
          </a:solidFill>
          <a:ln/>
        </p:spPr>
        <p:txBody>
          <a:bodyPr/>
          <a:lstStyle/>
          <a:p>
            <a:endParaRPr lang="en-IN"/>
          </a:p>
        </p:txBody>
      </p:sp>
      <p:sp>
        <p:nvSpPr>
          <p:cNvPr id="4" name="Text 2"/>
          <p:cNvSpPr/>
          <p:nvPr/>
        </p:nvSpPr>
        <p:spPr>
          <a:xfrm>
            <a:off x="812800" y="2162969"/>
            <a:ext cx="5886450" cy="238720"/>
          </a:xfrm>
          <a:prstGeom prst="rect">
            <a:avLst/>
          </a:prstGeom>
          <a:noFill/>
          <a:ln/>
        </p:spPr>
        <p:txBody>
          <a:bodyPr wrap="square" lIns="0" tIns="0" rIns="0" bIns="0" rtlCol="0" anchor="t">
            <a:normAutofit/>
          </a:bodyPr>
          <a:lstStyle/>
          <a:p>
            <a:pPr marL="0" indent="0" algn="l">
              <a:lnSpc>
                <a:spcPts val="1680"/>
              </a:lnSpc>
              <a:buNone/>
            </a:pPr>
            <a:r>
              <a:rPr lang="en-US" sz="1200" b="1" kern="0" spc="250" dirty="0">
                <a:solidFill>
                  <a:srgbClr val="FFA6C1"/>
                </a:solidFill>
                <a:latin typeface="Arial" pitchFamily="34" charset="0"/>
                <a:ea typeface="Arial" pitchFamily="34" charset="-122"/>
                <a:cs typeface="Arial" pitchFamily="34" charset="-120"/>
              </a:rPr>
              <a:t>CONCLUSION</a:t>
            </a:r>
            <a:endParaRPr lang="en-US" sz="1200" dirty="0"/>
          </a:p>
        </p:txBody>
      </p:sp>
      <p:sp>
        <p:nvSpPr>
          <p:cNvPr id="5" name="Text 3"/>
          <p:cNvSpPr>
            <a:spLocks noGrp="1"/>
          </p:cNvSpPr>
          <p:nvPr>
            <p:ph type="title"/>
          </p:nvPr>
        </p:nvSpPr>
        <p:spPr>
          <a:xfrm>
            <a:off x="812800" y="2604889"/>
            <a:ext cx="7848600" cy="103108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F4F81"/>
                </a:solidFill>
                <a:latin typeface="Arial" pitchFamily="34" charset="0"/>
                <a:ea typeface="Arial" pitchFamily="34" charset="-122"/>
                <a:cs typeface="Arial" pitchFamily="34" charset="-120"/>
              </a:rPr>
              <a:t>Turning Listing Data</a:t>
            </a:r>
            <a:endParaRPr lang="en-US" sz="3600" dirty="0"/>
          </a:p>
          <a:p>
            <a:pPr marL="0" indent="0" algn="l">
              <a:lnSpc>
                <a:spcPts val="3960"/>
              </a:lnSpc>
              <a:buNone/>
            </a:pPr>
            <a:r>
              <a:rPr lang="en-US" sz="3600" b="1" i="0" dirty="0">
                <a:solidFill>
                  <a:srgbClr val="FF4F81"/>
                </a:solidFill>
                <a:latin typeface="Arial" pitchFamily="34" charset="0"/>
                <a:ea typeface="Arial" pitchFamily="34" charset="-122"/>
                <a:cs typeface="Arial" pitchFamily="34" charset="-120"/>
              </a:rPr>
              <a:t>into Beauty Insights</a:t>
            </a:r>
            <a:endParaRPr lang="en-US" sz="3600" dirty="0"/>
          </a:p>
        </p:txBody>
      </p:sp>
      <p:sp>
        <p:nvSpPr>
          <p:cNvPr id="6" name="Shape 4"/>
          <p:cNvSpPr/>
          <p:nvPr/>
        </p:nvSpPr>
        <p:spPr>
          <a:xfrm>
            <a:off x="812800" y="3839170"/>
            <a:ext cx="1143000" cy="25400"/>
          </a:xfrm>
          <a:prstGeom prst="rect">
            <a:avLst/>
          </a:prstGeom>
          <a:solidFill>
            <a:srgbClr val="FFA6C1"/>
          </a:solidFill>
          <a:ln/>
        </p:spPr>
        <p:txBody>
          <a:bodyPr/>
          <a:lstStyle/>
          <a:p>
            <a:endParaRPr lang="en-IN"/>
          </a:p>
        </p:txBody>
      </p:sp>
      <p:sp>
        <p:nvSpPr>
          <p:cNvPr id="7" name="Text 5"/>
          <p:cNvSpPr/>
          <p:nvPr/>
        </p:nvSpPr>
        <p:spPr>
          <a:xfrm>
            <a:off x="812800" y="4093170"/>
            <a:ext cx="10883392"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FF1F5"/>
                </a:solidFill>
                <a:latin typeface="Arial" pitchFamily="34" charset="0"/>
                <a:ea typeface="Arial" pitchFamily="34" charset="-122"/>
                <a:cs typeface="Arial" pitchFamily="34" charset="-120"/>
              </a:rPr>
              <a:t>Thank You</a:t>
            </a:r>
            <a:endParaRPr lang="en-US" sz="1800" dirty="0"/>
          </a:p>
        </p:txBody>
      </p:sp>
      <p:sp>
        <p:nvSpPr>
          <p:cNvPr id="8" name="Text 6"/>
          <p:cNvSpPr/>
          <p:nvPr/>
        </p:nvSpPr>
        <p:spPr>
          <a:xfrm>
            <a:off x="812800" y="4463951"/>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9A9BA"/>
                </a:solidFill>
                <a:latin typeface="Arial" pitchFamily="34" charset="0"/>
                <a:ea typeface="Arial" pitchFamily="34" charset="-122"/>
                <a:cs typeface="Arial" pitchFamily="34" charset="-120"/>
              </a:rPr>
              <a:t>KAVEYA S</a:t>
            </a:r>
            <a:endParaRPr lang="en-US" sz="1300" dirty="0"/>
          </a:p>
        </p:txBody>
      </p:sp>
    </p:spTree>
  </p:cSld>
  <p:clrMapOvr>
    <a:masterClrMapping/>
  </p:clrMapOvr>
</p:sld>
</file>

<file path=ppt/theme/theme1.xml><?xml version="1.0" encoding="utf-8"?>
<a:theme xmlns:a="http://schemas.openxmlformats.org/drawingml/2006/main" name="Myntra Beauty Analytics Dashboard">
  <a:themeElements>
    <a:clrScheme name="Myntra Beauty Analytics Dashboard">
      <a:dk1>
        <a:srgbClr val="1F0A16"/>
      </a:dk1>
      <a:lt1>
        <a:srgbClr val="FF4F81"/>
      </a:lt1>
      <a:dk2>
        <a:srgbClr val="351121"/>
      </a:dk2>
      <a:lt2>
        <a:srgbClr val="C73E66"/>
      </a:lt2>
      <a:accent1>
        <a:srgbClr val="D9A9BA"/>
      </a:accent1>
      <a:accent2>
        <a:srgbClr val="FFA6C1"/>
      </a:accent2>
      <a:accent3>
        <a:srgbClr val="6B3A53"/>
      </a:accent3>
      <a:accent4>
        <a:srgbClr val="B08598"/>
      </a:accent4>
      <a:accent5>
        <a:srgbClr val="4A1A33"/>
      </a:accent5>
      <a:accent6>
        <a:srgbClr val="6A2144"/>
      </a:accent6>
      <a:hlink>
        <a:srgbClr val="0563C1"/>
      </a:hlink>
      <a:folHlink>
        <a:srgbClr val="954F72"/>
      </a:folHlink>
    </a:clrScheme>
    <a:fontScheme name="Myntra Beauty Analytics Dashboa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1151</Words>
  <Application>Microsoft Office PowerPoint</Application>
  <PresentationFormat>Widescreen</PresentationFormat>
  <Paragraphs>215</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Myntra Beauty Analytics Dashboard</vt:lpstr>
      <vt:lpstr>Myntra Beauty &amp; Cosmetics Analytics Dashboard</vt:lpstr>
      <vt:lpstr>Project Overview</vt:lpstr>
      <vt:lpstr>Problem Statement</vt:lpstr>
      <vt:lpstr>Project Workflow</vt:lpstr>
      <vt:lpstr>Dataset Overview</vt:lpstr>
      <vt:lpstr>Data Collection &amp; Cleaning</vt:lpstr>
      <vt:lpstr>Power BI Features Used</vt:lpstr>
      <vt:lpstr>Dashboard Overview</vt:lpstr>
      <vt:lpstr>Business Benefits &amp; Future Enhancements</vt:lpstr>
      <vt:lpstr>Turning Listing Data into Beauty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Myntra Beauty Analytics Dashboard</dc:title>
  <dc:subject/>
  <dc:creator/>
  <cp:lastModifiedBy>S0010019</cp:lastModifiedBy>
  <cp:revision>2</cp:revision>
  <dcterms:created xsi:type="dcterms:W3CDTF">2026-10-17T12:21:14Z</dcterms:created>
  <dcterms:modified xsi:type="dcterms:W3CDTF">2026-10-29T08:47:16Z</dcterms:modified>
</cp:coreProperties>
</file>